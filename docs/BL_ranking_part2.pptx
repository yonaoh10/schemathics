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p50 (ms)</c:v>
                </c:pt>
              </c:strCache>
            </c:strRef>
          </c:tx>
          <c:spPr>
            <a:solidFill>
              <a:srgbClr val="1C7293"/>
            </a:solidFill>
            <a:effectLst/>
          </c:spPr>
          <c:invertIfNegative val="0"/>
          <c:dLbls>
            <c:numFmt formatCode="0.0&quot; ms&quot;" sourceLinked="0"/>
            <c:txPr>
              <a:bodyPr/>
              <a:lstStyle/>
              <a:p>
                <a:pPr>
                  <a:defRPr b="0" i="0" strike="noStrike" sz="1200" u="none">
                    <a:solidFill>
                      <a:srgbClr val="0F2A3F"/>
                    </a:solidFill>
                    <a:latin typeface="Calibri"/>
                  </a:defRPr>
                </a:pPr>
              </a:p>
            </c:txPr>
            <c:showLegendKey val="0"/>
            <c:showVal val="1"/>
            <c:showCatName val="0"/>
            <c:showSerName val="0"/>
            <c:showPercent val="0"/>
            <c:showBubbleSize val="0"/>
            <c:showLeaderLines val="0"/>
          </c:dLbls>
          <c:cat>
            <c:multiLvlStrRef>
              <c:f>Sheet1!$A$2:$A$3</c:f>
              <c:multiLvlStrCache>
                <c:ptCount val="2"/>
                <c:lvl>
                  <c:pt idx="0">
                    <c:v>Research pipeline</c:v>
                  </c:pt>
                  <c:pt idx="1">
                    <c:v>Vectorised path</c:v>
                  </c:pt>
                </c:lvl>
              </c:multiLvlStrCache>
            </c:multiLvlStrRef>
          </c:cat>
          <c:val>
            <c:numRef>
              <c:f>Sheet1!$B$2:$B$3</c:f>
              <c:numCache>
                <c:formatCode>General</c:formatCode>
                <c:ptCount val="2"/>
                <c:pt idx="0">
                  <c:v>60.3</c:v>
                </c:pt>
                <c:pt idx="1">
                  <c:v>2.41</c:v>
                </c:pt>
              </c:numCache>
            </c:numRef>
          </c:val>
        </c:ser>
        <c:dLbls>
          <c:numFmt formatCode="0.0&quot; ms&quot;" sourceLinked="0"/>
          <c:txPr>
            <a:bodyPr/>
            <a:lstStyle/>
            <a:p>
              <a:pPr>
                <a:defRPr b="0" i="0" strike="noStrike" sz="1200" u="none">
                  <a:solidFill>
                    <a:srgbClr val="0F2A3F"/>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B3A44"/>
                </a:solidFill>
                <a:latin typeface="Calibri"/>
              </a:defRPr>
            </a:pPr>
            <a:endParaRPr lang="en-US"/>
          </a:p>
        </c:txPr>
        <c:crossAx val="2094734552"/>
        <c:crosses val="autoZero"/>
        <c:auto val="1"/>
        <c:lblAlgn val="ctr"/>
        <c:noMultiLvlLbl val="1"/>
      </c:catAx>
      <c:valAx>
        <c:axId val="2094734552"/>
        <c:scaling>
          <c:orientation val="minMax"/>
          <c:max val="70"/>
        </c:scaling>
        <c:delete val="0"/>
        <c:axPos val="b"/>
        <c:majorGridlines>
          <c:spPr>
            <a:ln w="12700" cap="flat">
              <a:solidFill>
                <a:srgbClr val="EDF2F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B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of the assignment. The three numbers are the headline results: what one request costs, what a container costs to start, and what it costs to hold in memory. All three come from removing work rather than from changing any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constraint drove the architecture. Because the scripts could not change, every production concern had to be solved around them: subclasses override I/O seams only, and every feature-engineering method is inherited unchanged. The checksum makes that auditable rather than something I merely assert.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local stack is not a toy version of the Databricks one; it is the same design with different backing services. That is what makes the claim 'this deploys' credible without a workspace to demo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asks for two things that pull apart: keep the researcher's own log for accuracy assessment, and log technical parameters so runs are comparable. I did both rather than choosing: super() writes the log untouched, then the wrapper captures the same arrays as numeric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code writes four loose files. Loose files are the rollback hazard, because nothing detects a mismatched pair. Making the bundle the unit of registration turns rollback into a pointer move that cannot half-apply.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judgement call of the assignment. My position: the research code defines what the answer is, not where the work happens or how often it is repeated. Computing the same function faster, and proving it is the same function, is productization. I kept the original path available behind one environment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here changes a prediction. Warm models remove per-request loading; the vectorised path removes pandas overhead; sharing one CatBoost Pool between the two models removes duplicated input construction. The bar chart is p50 in-process with models already warm.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on the 4-CPU box this was built on, context 1000x25, one request being one user scored against 15 brands. low_memory is worth noting for the opposite reason: slowest AND the only mode that differs materially, so it is never the right choice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training job logs its own fidelity check and that check says the student agrees with the teacher essentially always — rank correlation 0.993, same top brand every time. I did not believe it, because the distillation sample is drawn from the payout context, a narrow high-value slice, and it compares payout predictions rather than the ranking they produce. Measuring the ranking itself gave 84.5%. The training metric stays, as a regression detector, but the number I quote is the end-to-end one. The approximation is surfaced in three places: MLflow metrics, model version tags, and every API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three worker processes the original costs 7 GB and 18 seconds per worker before a single request is served. This is the kind of thing that never shows up in a research notebook and dominates a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equivalence test found two of these on its own: the two feature paths disagreed, and on inspection the research path was the one that was wrong. That is the argument for writing the second implementation rather than trusting the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uvicorn worker processes on four cores, one BLAS thread each, access log off. The load generator shares those four cores, so past a few hundred requests per second it becomes a co-bottleneck; that is stated in the report rather than quietly trimmed.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asymmetry between training and serving is deliberate. Training must fail loudly, because a silently degraded model would be registered and served for a week. Serving must keep answering, because a 503 on the funnel is a lost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was a real fork in the road. The pattern in the rejections is the same: prefer the option that can be verified over the one that has to be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item is the one I would start with. Everything currently measured is a proxy; the ranking itself is what the business is paying for, and it is measurable from historical data without any new instrumentation.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3F"/>
        </a:solidFill>
      </p:bgPr>
    </p:bg>
    <p:spTree>
      <p:nvGrpSpPr>
        <p:cNvPr id="1" name=""/>
        <p:cNvGrpSpPr/>
        <p:nvPr/>
      </p:nvGrpSpPr>
      <p:grpSpPr>
        <a:xfrm>
          <a:off x="0" y="0"/>
          <a:ext cx="0" cy="0"/>
          <a:chOff x="0" y="0"/>
          <a:chExt cx="0" cy="0"/>
        </a:xfrm>
      </p:grpSpPr>
      <p:sp>
        <p:nvSpPr>
          <p:cNvPr id="2" name="Text 0"/>
          <p:cNvSpPr txBox="1"/>
          <p:nvPr/>
        </p:nvSpPr>
        <p:spPr>
          <a:xfrm>
            <a:off x="640080" y="1874520"/>
            <a:ext cx="8595360" cy="658368"/>
          </a:xfrm>
          <a:prstGeom prst="rect">
            <a:avLst/>
          </a:prstGeom>
          <a:noFill/>
          <a:ln/>
        </p:spPr>
        <p:txBody>
          <a:bodyPr wrap="square" lIns="0" tIns="0" rIns="0" bIns="0" rtlCol="0" anchor="ctr"/>
          <a:lstStyle/>
          <a:p>
            <a:pPr indent="0" marL="0">
              <a:buNone/>
            </a:pPr>
            <a:r>
              <a:rPr lang="en-US" sz="4200" dirty="0">
                <a:solidFill>
                  <a:srgbClr val="9FC3D4"/>
                </a:solidFill>
                <a:latin typeface="Cambria" pitchFamily="34" charset="0"/>
                <a:ea typeface="Cambria" pitchFamily="34" charset="-122"/>
                <a:cs typeface="Cambria" pitchFamily="34" charset="-120"/>
              </a:rPr>
              <a:t>Business Loans</a:t>
            </a:r>
            <a:endParaRPr lang="en-US" sz="4200" dirty="0"/>
          </a:p>
        </p:txBody>
      </p:sp>
      <p:sp>
        <p:nvSpPr>
          <p:cNvPr id="3" name="Text 1"/>
          <p:cNvSpPr txBox="1"/>
          <p:nvPr/>
        </p:nvSpPr>
        <p:spPr>
          <a:xfrm>
            <a:off x="640080" y="2487168"/>
            <a:ext cx="9692640" cy="786384"/>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brand ranking in production</a:t>
            </a:r>
            <a:endParaRPr lang="en-US" sz="4600" dirty="0"/>
          </a:p>
        </p:txBody>
      </p:sp>
      <p:sp>
        <p:nvSpPr>
          <p:cNvPr id="4" name="Text 2"/>
          <p:cNvSpPr txBox="1"/>
          <p:nvPr/>
        </p:nvSpPr>
        <p:spPr>
          <a:xfrm>
            <a:off x="640080" y="3456432"/>
            <a:ext cx="8412480" cy="822960"/>
          </a:xfrm>
          <a:prstGeom prst="rect">
            <a:avLst/>
          </a:prstGeom>
          <a:noFill/>
          <a:ln/>
        </p:spPr>
        <p:txBody>
          <a:bodyPr wrap="square" lIns="0" tIns="0" rIns="0" bIns="0" rtlCol="0" anchor="ctr"/>
          <a:lstStyle/>
          <a:p>
            <a:pPr indent="0" marL="0">
              <a:lnSpc>
                <a:spcPts val="2300"/>
              </a:lnSpc>
              <a:buNone/>
            </a:pPr>
            <a:r>
              <a:rPr lang="en-US" sz="1500" dirty="0">
                <a:solidFill>
                  <a:srgbClr val="B8CBD6"/>
                </a:solidFill>
                <a:latin typeface="Calibri" pitchFamily="34" charset="0"/>
                <a:ea typeface="Calibri" pitchFamily="34" charset="-122"/>
                <a:cs typeface="Calibri" pitchFamily="34" charset="-120"/>
              </a:rPr>
              <a:t>Two research scripts, unchanged, behind a training pipeline, a model registry with rollback, and a synchronous endpoint.</a:t>
            </a:r>
            <a:endParaRPr lang="en-US" sz="1500" dirty="0"/>
          </a:p>
        </p:txBody>
      </p:sp>
      <p:sp>
        <p:nvSpPr>
          <p:cNvPr id="5" name="Text 3"/>
          <p:cNvSpPr txBox="1"/>
          <p:nvPr/>
        </p:nvSpPr>
        <p:spPr>
          <a:xfrm>
            <a:off x="640080" y="4800600"/>
            <a:ext cx="2834640" cy="384048"/>
          </a:xfrm>
          <a:prstGeom prst="rect">
            <a:avLst/>
          </a:prstGeom>
          <a:noFill/>
          <a:ln/>
        </p:spPr>
        <p:txBody>
          <a:bodyPr wrap="square" lIns="0" tIns="0" rIns="0" bIns="0" rtlCol="0" anchor="ctr"/>
          <a:lstStyle/>
          <a:p>
            <a:pPr indent="0" marL="0">
              <a:buNone/>
            </a:pPr>
            <a:r>
              <a:rPr lang="en-US" sz="2000" strike="sngStrike" dirty="0">
                <a:solidFill>
                  <a:srgbClr val="7C97A6"/>
                </a:solidFill>
                <a:latin typeface="Cambria" pitchFamily="34" charset="0"/>
                <a:ea typeface="Cambria" pitchFamily="34" charset="-122"/>
                <a:cs typeface="Cambria" pitchFamily="34" charset="-120"/>
              </a:rPr>
              <a:t>60 ms  </a:t>
            </a:r>
            <a:pPr indent="0" marL="0">
              <a:buNone/>
            </a:pPr>
            <a:r>
              <a:rPr lang="en-US" sz="2000" b="1" dirty="0">
                <a:solidFill>
                  <a:srgbClr val="E08E45"/>
                </a:solidFill>
                <a:latin typeface="Cambria" pitchFamily="34" charset="0"/>
                <a:ea typeface="Cambria" pitchFamily="34" charset="-122"/>
                <a:cs typeface="Cambria" pitchFamily="34" charset="-120"/>
              </a:rPr>
              <a:t>→ 2.4 ms</a:t>
            </a:r>
            <a:endParaRPr lang="en-US" sz="2000" dirty="0"/>
          </a:p>
        </p:txBody>
      </p:sp>
      <p:sp>
        <p:nvSpPr>
          <p:cNvPr id="6" name="Text 4"/>
          <p:cNvSpPr txBox="1"/>
          <p:nvPr/>
        </p:nvSpPr>
        <p:spPr>
          <a:xfrm>
            <a:off x="640080" y="5230368"/>
            <a:ext cx="2834640" cy="274320"/>
          </a:xfrm>
          <a:prstGeom prst="rect">
            <a:avLst/>
          </a:prstGeom>
          <a:noFill/>
          <a:ln/>
        </p:spPr>
        <p:txBody>
          <a:bodyPr wrap="square" lIns="0" tIns="0" rIns="0" bIns="0" rtlCol="0" anchor="ctr"/>
          <a:lstStyle/>
          <a:p>
            <a:pPr indent="0" marL="0">
              <a:buNone/>
            </a:pPr>
            <a:r>
              <a:rPr lang="en-US" sz="1100" dirty="0">
                <a:solidFill>
                  <a:srgbClr val="8FA8B5"/>
                </a:solidFill>
                <a:latin typeface="Calibri" pitchFamily="34" charset="0"/>
                <a:ea typeface="Calibri" pitchFamily="34" charset="-122"/>
                <a:cs typeface="Calibri" pitchFamily="34" charset="-120"/>
              </a:rPr>
              <a:t>per request</a:t>
            </a:r>
            <a:endParaRPr lang="en-US" sz="1100" dirty="0"/>
          </a:p>
        </p:txBody>
      </p:sp>
      <p:sp>
        <p:nvSpPr>
          <p:cNvPr id="7" name="Text 5"/>
          <p:cNvSpPr txBox="1"/>
          <p:nvPr/>
        </p:nvSpPr>
        <p:spPr>
          <a:xfrm>
            <a:off x="3703320" y="4800600"/>
            <a:ext cx="2834640" cy="384048"/>
          </a:xfrm>
          <a:prstGeom prst="rect">
            <a:avLst/>
          </a:prstGeom>
          <a:noFill/>
          <a:ln/>
        </p:spPr>
        <p:txBody>
          <a:bodyPr wrap="square" lIns="0" tIns="0" rIns="0" bIns="0" rtlCol="0" anchor="ctr"/>
          <a:lstStyle/>
          <a:p>
            <a:pPr indent="0" marL="0">
              <a:buNone/>
            </a:pPr>
            <a:r>
              <a:rPr lang="en-US" sz="2000" strike="sngStrike" dirty="0">
                <a:solidFill>
                  <a:srgbClr val="7C97A6"/>
                </a:solidFill>
                <a:latin typeface="Cambria" pitchFamily="34" charset="0"/>
                <a:ea typeface="Cambria" pitchFamily="34" charset="-122"/>
                <a:cs typeface="Cambria" pitchFamily="34" charset="-120"/>
              </a:rPr>
              <a:t>18.6 s  </a:t>
            </a:r>
            <a:pPr indent="0" marL="0">
              <a:buNone/>
            </a:pPr>
            <a:r>
              <a:rPr lang="en-US" sz="2000" b="1" dirty="0">
                <a:solidFill>
                  <a:srgbClr val="E08E45"/>
                </a:solidFill>
                <a:latin typeface="Cambria" pitchFamily="34" charset="0"/>
                <a:ea typeface="Cambria" pitchFamily="34" charset="-122"/>
                <a:cs typeface="Cambria" pitchFamily="34" charset="-120"/>
              </a:rPr>
              <a:t>→ 3.9 s</a:t>
            </a:r>
            <a:endParaRPr lang="en-US" sz="2000" dirty="0"/>
          </a:p>
        </p:txBody>
      </p:sp>
      <p:sp>
        <p:nvSpPr>
          <p:cNvPr id="8" name="Text 6"/>
          <p:cNvSpPr txBox="1"/>
          <p:nvPr/>
        </p:nvSpPr>
        <p:spPr>
          <a:xfrm>
            <a:off x="3703320" y="5230368"/>
            <a:ext cx="2834640" cy="274320"/>
          </a:xfrm>
          <a:prstGeom prst="rect">
            <a:avLst/>
          </a:prstGeom>
          <a:noFill/>
          <a:ln/>
        </p:spPr>
        <p:txBody>
          <a:bodyPr wrap="square" lIns="0" tIns="0" rIns="0" bIns="0" rtlCol="0" anchor="ctr"/>
          <a:lstStyle/>
          <a:p>
            <a:pPr indent="0" marL="0">
              <a:buNone/>
            </a:pPr>
            <a:r>
              <a:rPr lang="en-US" sz="1100" dirty="0">
                <a:solidFill>
                  <a:srgbClr val="8FA8B5"/>
                </a:solidFill>
                <a:latin typeface="Calibri" pitchFamily="34" charset="0"/>
                <a:ea typeface="Calibri" pitchFamily="34" charset="-122"/>
                <a:cs typeface="Calibri" pitchFamily="34" charset="-120"/>
              </a:rPr>
              <a:t>cold start</a:t>
            </a:r>
            <a:endParaRPr lang="en-US" sz="1100" dirty="0"/>
          </a:p>
        </p:txBody>
      </p:sp>
      <p:sp>
        <p:nvSpPr>
          <p:cNvPr id="9" name="Text 7"/>
          <p:cNvSpPr txBox="1"/>
          <p:nvPr/>
        </p:nvSpPr>
        <p:spPr>
          <a:xfrm>
            <a:off x="6766560" y="4800600"/>
            <a:ext cx="2834640" cy="384048"/>
          </a:xfrm>
          <a:prstGeom prst="rect">
            <a:avLst/>
          </a:prstGeom>
          <a:noFill/>
          <a:ln/>
        </p:spPr>
        <p:txBody>
          <a:bodyPr wrap="square" lIns="0" tIns="0" rIns="0" bIns="0" rtlCol="0" anchor="ctr"/>
          <a:lstStyle/>
          <a:p>
            <a:pPr indent="0" marL="0">
              <a:buNone/>
            </a:pPr>
            <a:r>
              <a:rPr lang="en-US" sz="2000" strike="sngStrike" dirty="0">
                <a:solidFill>
                  <a:srgbClr val="7C97A6"/>
                </a:solidFill>
                <a:latin typeface="Cambria" pitchFamily="34" charset="0"/>
                <a:ea typeface="Cambria" pitchFamily="34" charset="-122"/>
                <a:cs typeface="Cambria" pitchFamily="34" charset="-120"/>
              </a:rPr>
              <a:t>2.4 GB  </a:t>
            </a:r>
            <a:pPr indent="0" marL="0">
              <a:buNone/>
            </a:pPr>
            <a:r>
              <a:rPr lang="en-US" sz="2000" b="1" dirty="0">
                <a:solidFill>
                  <a:srgbClr val="E08E45"/>
                </a:solidFill>
                <a:latin typeface="Cambria" pitchFamily="34" charset="0"/>
                <a:ea typeface="Cambria" pitchFamily="34" charset="-122"/>
                <a:cs typeface="Cambria" pitchFamily="34" charset="-120"/>
              </a:rPr>
              <a:t>→ 290 MB</a:t>
            </a:r>
            <a:endParaRPr lang="en-US" sz="2000" dirty="0"/>
          </a:p>
        </p:txBody>
      </p:sp>
      <p:sp>
        <p:nvSpPr>
          <p:cNvPr id="10" name="Text 8"/>
          <p:cNvSpPr txBox="1"/>
          <p:nvPr/>
        </p:nvSpPr>
        <p:spPr>
          <a:xfrm>
            <a:off x="6766560" y="5230368"/>
            <a:ext cx="2834640" cy="274320"/>
          </a:xfrm>
          <a:prstGeom prst="rect">
            <a:avLst/>
          </a:prstGeom>
          <a:noFill/>
          <a:ln/>
        </p:spPr>
        <p:txBody>
          <a:bodyPr wrap="square" lIns="0" tIns="0" rIns="0" bIns="0" rtlCol="0" anchor="ctr"/>
          <a:lstStyle/>
          <a:p>
            <a:pPr indent="0" marL="0">
              <a:buNone/>
            </a:pPr>
            <a:r>
              <a:rPr lang="en-US" sz="1100" dirty="0">
                <a:solidFill>
                  <a:srgbClr val="8FA8B5"/>
                </a:solidFill>
                <a:latin typeface="Calibri" pitchFamily="34" charset="0"/>
                <a:ea typeface="Calibri" pitchFamily="34" charset="-122"/>
                <a:cs typeface="Calibri" pitchFamily="34" charset="-120"/>
              </a:rPr>
              <a:t>resident memory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84048" cy="384048"/>
          </a:xfrm>
          <a:prstGeom prst="ellipse">
            <a:avLst/>
          </a:prstGeom>
          <a:solidFill>
            <a:srgbClr val="1C7293"/>
          </a:solidFill>
          <a:ln/>
        </p:spPr>
      </p:sp>
      <p:sp>
        <p:nvSpPr>
          <p:cNvPr id="3" name="Text 1"/>
          <p:cNvSpPr txBox="1"/>
          <p:nvPr/>
        </p:nvSpPr>
        <p:spPr>
          <a:xfrm>
            <a:off x="640080" y="420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4" name="Text 2"/>
          <p:cNvSpPr txBox="1"/>
          <p:nvPr/>
        </p:nvSpPr>
        <p:spPr>
          <a:xfrm>
            <a:off x="1207008" y="365760"/>
            <a:ext cx="10314432" cy="512064"/>
          </a:xfrm>
          <a:prstGeom prst="rect">
            <a:avLst/>
          </a:prstGeom>
          <a:noFill/>
          <a:ln/>
        </p:spPr>
        <p:txBody>
          <a:bodyPr wrap="square" lIns="0" tIns="0" rIns="0" bIns="0" rtlCol="0" anchor="ctr"/>
          <a:lstStyle/>
          <a:p>
            <a:pPr indent="0" marL="0">
              <a:buNone/>
            </a:pPr>
            <a:r>
              <a:rPr lang="en-US" sz="3000" b="1" dirty="0">
                <a:solidFill>
                  <a:srgbClr val="0F2A3F"/>
                </a:solidFill>
                <a:latin typeface="Cambria" pitchFamily="34" charset="0"/>
                <a:ea typeface="Cambria" pitchFamily="34" charset="-122"/>
                <a:cs typeface="Cambria" pitchFamily="34" charset="-120"/>
              </a:rPr>
              <a:t>What was given, what I built</a:t>
            </a:r>
            <a:endParaRPr lang="en-US" sz="3000" dirty="0"/>
          </a:p>
        </p:txBody>
      </p:sp>
      <p:sp>
        <p:nvSpPr>
          <p:cNvPr id="5" name="Text 3"/>
          <p:cNvSpPr txBox="1"/>
          <p:nvPr/>
        </p:nvSpPr>
        <p:spPr>
          <a:xfrm>
            <a:off x="1207008" y="896112"/>
            <a:ext cx="10314432" cy="310896"/>
          </a:xfrm>
          <a:prstGeom prst="rect">
            <a:avLst/>
          </a:prstGeom>
          <a:noFill/>
          <a:ln/>
        </p:spPr>
        <p:txBody>
          <a:bodyPr wrap="square" lIns="0" tIns="0" rIns="0" bIns="0" rtlCol="0" anchor="ctr"/>
          <a:lstStyle/>
          <a:p>
            <a:pPr indent="0" marL="0">
              <a:buNone/>
            </a:pPr>
            <a:r>
              <a:rPr lang="en-US" sz="1400" i="1" dirty="0">
                <a:solidFill>
                  <a:srgbClr val="5A6B78"/>
                </a:solidFill>
                <a:latin typeface="Calibri" pitchFamily="34" charset="0"/>
                <a:ea typeface="Calibri" pitchFamily="34" charset="-122"/>
                <a:cs typeface="Calibri" pitchFamily="34" charset="-120"/>
              </a:rPr>
              <a:t>The seam: subclass, never edit.</a:t>
            </a:r>
            <a:endParaRPr lang="en-US" sz="1400" dirty="0"/>
          </a:p>
        </p:txBody>
      </p:sp>
      <p:sp>
        <p:nvSpPr>
          <p:cNvPr id="6" name="Shape 4"/>
          <p:cNvSpPr/>
          <p:nvPr/>
        </p:nvSpPr>
        <p:spPr>
          <a:xfrm>
            <a:off x="640080" y="1600200"/>
            <a:ext cx="5212080" cy="4069080"/>
          </a:xfrm>
          <a:prstGeom prst="roundRect">
            <a:avLst>
              <a:gd name="adj" fmla="val 1348"/>
            </a:avLst>
          </a:prstGeom>
          <a:solidFill>
            <a:srgbClr val="F4F7F9"/>
          </a:solidFill>
          <a:ln w="12700">
            <a:solidFill>
              <a:srgbClr val="F4F7F9"/>
            </a:solidFill>
            <a:prstDash val="solid"/>
          </a:ln>
        </p:spPr>
      </p:sp>
      <p:sp>
        <p:nvSpPr>
          <p:cNvPr id="7" name="Text 5"/>
          <p:cNvSpPr txBox="1"/>
          <p:nvPr/>
        </p:nvSpPr>
        <p:spPr>
          <a:xfrm>
            <a:off x="914400" y="1810512"/>
            <a:ext cx="4663440" cy="310896"/>
          </a:xfrm>
          <a:prstGeom prst="rect">
            <a:avLst/>
          </a:prstGeom>
          <a:noFill/>
          <a:ln/>
        </p:spPr>
        <p:txBody>
          <a:bodyPr wrap="square" lIns="0" tIns="0" rIns="0" bIns="0" rtlCol="0" anchor="ctr"/>
          <a:lstStyle/>
          <a:p>
            <a:pPr indent="0" marL="0">
              <a:buNone/>
            </a:pPr>
            <a:r>
              <a:rPr lang="en-US" sz="1200" b="1" spc="100" kern="0" dirty="0">
                <a:solidFill>
                  <a:srgbClr val="1C7293"/>
                </a:solidFill>
                <a:latin typeface="Calibri" pitchFamily="34" charset="0"/>
                <a:ea typeface="Calibri" pitchFamily="34" charset="-122"/>
                <a:cs typeface="Calibri" pitchFamily="34" charset="-120"/>
              </a:rPr>
              <a:t>GIVEN — treated as fixed</a:t>
            </a:r>
            <a:endParaRPr lang="en-US" sz="1200" dirty="0"/>
          </a:p>
        </p:txBody>
      </p:sp>
      <p:sp>
        <p:nvSpPr>
          <p:cNvPr id="8" name="Text 6"/>
          <p:cNvSpPr txBox="1"/>
          <p:nvPr/>
        </p:nvSpPr>
        <p:spPr>
          <a:xfrm>
            <a:off x="914400" y="2212848"/>
            <a:ext cx="4663440" cy="3200400"/>
          </a:xfrm>
          <a:prstGeom prst="rect">
            <a:avLst/>
          </a:prstGeom>
          <a:noFill/>
          <a:ln/>
        </p:spPr>
        <p:txBody>
          <a:bodyPr wrap="square" rtlCol="0" anchor="t"/>
          <a:lstStyle/>
          <a:p>
            <a:pPr marL="342900" indent="-342900">
              <a:lnSpc>
                <a:spcPts val="1958"/>
              </a:lnSpc>
              <a:spcAft>
                <a:spcPts val="700"/>
              </a:spcAft>
              <a:buSzPct val="100000"/>
              <a:buChar char="•"/>
            </a:pPr>
            <a:r>
              <a:rPr lang="en-US" sz="1350" dirty="0">
                <a:solidFill>
                  <a:srgbClr val="2B3A44"/>
                </a:solidFill>
                <a:latin typeface="Calibri" pitchFamily="34" charset="0"/>
                <a:ea typeface="Calibri" pitchFamily="34" charset="-122"/>
                <a:cs typeface="Calibri" pitchFamily="34" charset="-120"/>
              </a:rPr>
              <a:t>bl_models_train.py — features, CatBoost, the time split</a:t>
            </a:r>
            <a:endParaRPr lang="en-US" sz="1350" dirty="0"/>
          </a:p>
          <a:p>
            <a:pPr marL="342900" indent="-342900">
              <a:lnSpc>
                <a:spcPts val="1958"/>
              </a:lnSpc>
              <a:spcAft>
                <a:spcPts val="700"/>
              </a:spcAft>
              <a:buSzPct val="100000"/>
              <a:buChar char="•"/>
            </a:pPr>
            <a:r>
              <a:rPr lang="en-US" sz="1350" dirty="0">
                <a:solidFill>
                  <a:srgbClr val="2B3A44"/>
                </a:solidFill>
                <a:latin typeface="Calibri" pitchFamily="34" charset="0"/>
                <a:ea typeface="Calibri" pitchFamily="34" charset="-122"/>
                <a:cs typeface="Calibri" pitchFamily="34" charset="-120"/>
              </a:rPr>
              <a:t>bl_exp_payout_predictor.py — the ranking function</a:t>
            </a:r>
            <a:endParaRPr lang="en-US" sz="1350" dirty="0"/>
          </a:p>
          <a:p>
            <a:pPr marL="342900" indent="-342900">
              <a:lnSpc>
                <a:spcPts val="1958"/>
              </a:lnSpc>
              <a:spcAft>
                <a:spcPts val="700"/>
              </a:spcAft>
              <a:buSzPct val="100000"/>
              <a:buChar char="•"/>
            </a:pPr>
            <a:r>
              <a:rPr lang="en-US" sz="1350" dirty="0">
                <a:solidFill>
                  <a:srgbClr val="2B3A44"/>
                </a:solidFill>
                <a:latin typeface="Calibri" pitchFamily="34" charset="0"/>
                <a:ea typeface="Calibri" pitchFamily="34" charset="-122"/>
                <a:cs typeface="Calibri" pitchFamily="34" charset="-120"/>
              </a:rPr>
              <a:t>Vendored byte-for-byte; a SHA-256 of both is logged on every run</a:t>
            </a:r>
            <a:endParaRPr lang="en-US" sz="1350" dirty="0"/>
          </a:p>
          <a:p>
            <a:pPr marL="342900" indent="-342900">
              <a:lnSpc>
                <a:spcPts val="1958"/>
              </a:lnSpc>
              <a:spcAft>
                <a:spcPts val="700"/>
              </a:spcAft>
              <a:buSzPct val="100000"/>
              <a:buChar char="•"/>
            </a:pPr>
            <a:r>
              <a:rPr lang="en-US" sz="1350" dirty="0">
                <a:solidFill>
                  <a:srgbClr val="2B3A44"/>
                </a:solidFill>
                <a:latin typeface="Calibri" pitchFamily="34" charset="0"/>
                <a:ea typeface="Calibri" pitchFamily="34" charset="-122"/>
                <a:cs typeface="Calibri" pitchFamily="34" charset="-120"/>
              </a:rPr>
              <a:t>A test fails if that digest ever moves</a:t>
            </a:r>
            <a:endParaRPr lang="en-US" sz="1350" dirty="0"/>
          </a:p>
        </p:txBody>
      </p:sp>
      <p:sp>
        <p:nvSpPr>
          <p:cNvPr id="9" name="Text 7"/>
          <p:cNvSpPr txBox="1"/>
          <p:nvPr/>
        </p:nvSpPr>
        <p:spPr>
          <a:xfrm>
            <a:off x="6309360" y="1810512"/>
            <a:ext cx="5120640" cy="310896"/>
          </a:xfrm>
          <a:prstGeom prst="rect">
            <a:avLst/>
          </a:prstGeom>
          <a:noFill/>
          <a:ln/>
        </p:spPr>
        <p:txBody>
          <a:bodyPr wrap="square" lIns="0" tIns="0" rIns="0" bIns="0" rtlCol="0" anchor="ctr"/>
          <a:lstStyle/>
          <a:p>
            <a:pPr indent="0" marL="0">
              <a:buNone/>
            </a:pPr>
            <a:r>
              <a:rPr lang="en-US" sz="1200" b="1" spc="100" kern="0" dirty="0">
                <a:solidFill>
                  <a:srgbClr val="E08E45"/>
                </a:solidFill>
                <a:latin typeface="Calibri" pitchFamily="34" charset="0"/>
                <a:ea typeface="Calibri" pitchFamily="34" charset="-122"/>
                <a:cs typeface="Calibri" pitchFamily="34" charset="-120"/>
              </a:rPr>
              <a:t>BUILT AROUND IT</a:t>
            </a:r>
            <a:endParaRPr lang="en-US" sz="1200" dirty="0"/>
          </a:p>
        </p:txBody>
      </p:sp>
      <p:sp>
        <p:nvSpPr>
          <p:cNvPr id="10" name="Text 8"/>
          <p:cNvSpPr txBox="1"/>
          <p:nvPr/>
        </p:nvSpPr>
        <p:spPr>
          <a:xfrm>
            <a:off x="6309360" y="2212848"/>
            <a:ext cx="5120640" cy="3200400"/>
          </a:xfrm>
          <a:prstGeom prst="rect">
            <a:avLst/>
          </a:prstGeom>
          <a:noFill/>
          <a:ln/>
        </p:spPr>
        <p:txBody>
          <a:bodyPr wrap="square" rtlCol="0" anchor="t"/>
          <a:lstStyle/>
          <a:p>
            <a:pPr marL="342900" indent="-342900">
              <a:lnSpc>
                <a:spcPts val="1958"/>
              </a:lnSpc>
              <a:spcAft>
                <a:spcPts val="700"/>
              </a:spcAft>
              <a:buSzPct val="100000"/>
              <a:buChar char="•"/>
            </a:pPr>
            <a:r>
              <a:rPr lang="en-US" sz="1350" dirty="0">
                <a:solidFill>
                  <a:srgbClr val="2B3A44"/>
                </a:solidFill>
                <a:latin typeface="Calibri" pitchFamily="34" charset="0"/>
                <a:ea typeface="Calibri" pitchFamily="34" charset="-122"/>
                <a:cs typeface="Calibri" pitchFamily="34" charset="-120"/>
              </a:rPr>
              <a:t>Ingestion with a data-quality gate → versioned Delta table</a:t>
            </a:r>
            <a:endParaRPr lang="en-US" sz="1350" dirty="0"/>
          </a:p>
          <a:p>
            <a:pPr marL="342900" indent="-342900">
              <a:lnSpc>
                <a:spcPts val="1958"/>
              </a:lnSpc>
              <a:spcAft>
                <a:spcPts val="700"/>
              </a:spcAft>
              <a:buSzPct val="100000"/>
              <a:buChar char="•"/>
            </a:pPr>
            <a:r>
              <a:rPr lang="en-US" sz="1350" dirty="0">
                <a:solidFill>
                  <a:srgbClr val="2B3A44"/>
                </a:solidFill>
                <a:latin typeface="Calibri" pitchFamily="34" charset="0"/>
                <a:ea typeface="Calibri" pitchFamily="34" charset="-122"/>
                <a:cs typeface="Calibri" pitchFamily="34" charset="-120"/>
              </a:rPr>
              <a:t>MLflow runs, metrics, the researcher log as an artifact</a:t>
            </a:r>
            <a:endParaRPr lang="en-US" sz="1350" dirty="0"/>
          </a:p>
          <a:p>
            <a:pPr marL="342900" indent="-342900">
              <a:lnSpc>
                <a:spcPts val="1958"/>
              </a:lnSpc>
              <a:spcAft>
                <a:spcPts val="700"/>
              </a:spcAft>
              <a:buSzPct val="100000"/>
              <a:buChar char="•"/>
            </a:pPr>
            <a:r>
              <a:rPr lang="en-US" sz="1350" dirty="0">
                <a:solidFill>
                  <a:srgbClr val="2B3A44"/>
                </a:solidFill>
                <a:latin typeface="Calibri" pitchFamily="34" charset="0"/>
                <a:ea typeface="Calibri" pitchFamily="34" charset="-122"/>
                <a:cs typeface="Calibri" pitchFamily="34" charset="-120"/>
              </a:rPr>
              <a:t>One training run = one atomic, registered model version</a:t>
            </a:r>
            <a:endParaRPr lang="en-US" sz="1350" dirty="0"/>
          </a:p>
          <a:p>
            <a:pPr marL="342900" indent="-342900">
              <a:lnSpc>
                <a:spcPts val="1958"/>
              </a:lnSpc>
              <a:spcAft>
                <a:spcPts val="700"/>
              </a:spcAft>
              <a:buSzPct val="100000"/>
              <a:buChar char="•"/>
            </a:pPr>
            <a:r>
              <a:rPr lang="en-US" sz="1350" dirty="0">
                <a:solidFill>
                  <a:srgbClr val="2B3A44"/>
                </a:solidFill>
                <a:latin typeface="Calibri" pitchFamily="34" charset="0"/>
                <a:ea typeface="Calibri" pitchFamily="34" charset="-122"/>
                <a:cs typeface="Calibri" pitchFamily="34" charset="-120"/>
              </a:rPr>
              <a:t>Rollback by moving an alias; weekly Sunday 05:00 schedule</a:t>
            </a:r>
            <a:endParaRPr lang="en-US" sz="1350" dirty="0"/>
          </a:p>
          <a:p>
            <a:pPr marL="342900" indent="-342900">
              <a:lnSpc>
                <a:spcPts val="1958"/>
              </a:lnSpc>
              <a:spcAft>
                <a:spcPts val="700"/>
              </a:spcAft>
              <a:buSzPct val="100000"/>
              <a:buChar char="•"/>
            </a:pPr>
            <a:r>
              <a:rPr lang="en-US" sz="1350" dirty="0">
                <a:solidFill>
                  <a:srgbClr val="2B3A44"/>
                </a:solidFill>
                <a:latin typeface="Calibri" pitchFamily="34" charset="0"/>
                <a:ea typeface="Calibri" pitchFamily="34" charset="-122"/>
                <a:cs typeface="Calibri" pitchFamily="34" charset="-120"/>
              </a:rPr>
              <a:t>FastAPI endpoint, open-loop load harness, 62 tests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84048" cy="384048"/>
          </a:xfrm>
          <a:prstGeom prst="ellipse">
            <a:avLst/>
          </a:prstGeom>
          <a:solidFill>
            <a:srgbClr val="1C7293"/>
          </a:solidFill>
          <a:ln/>
        </p:spPr>
      </p:sp>
      <p:sp>
        <p:nvSpPr>
          <p:cNvPr id="3" name="Text 1"/>
          <p:cNvSpPr txBox="1"/>
          <p:nvPr/>
        </p:nvSpPr>
        <p:spPr>
          <a:xfrm>
            <a:off x="640080" y="420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4" name="Text 2"/>
          <p:cNvSpPr txBox="1"/>
          <p:nvPr/>
        </p:nvSpPr>
        <p:spPr>
          <a:xfrm>
            <a:off x="1207008" y="365760"/>
            <a:ext cx="10314432" cy="512064"/>
          </a:xfrm>
          <a:prstGeom prst="rect">
            <a:avLst/>
          </a:prstGeom>
          <a:noFill/>
          <a:ln/>
        </p:spPr>
        <p:txBody>
          <a:bodyPr wrap="square" lIns="0" tIns="0" rIns="0" bIns="0" rtlCol="0" anchor="ctr"/>
          <a:lstStyle/>
          <a:p>
            <a:pPr indent="0" marL="0">
              <a:buNone/>
            </a:pPr>
            <a:r>
              <a:rPr lang="en-US" sz="3000" b="1" dirty="0">
                <a:solidFill>
                  <a:srgbClr val="0F2A3F"/>
                </a:solidFill>
                <a:latin typeface="Cambria" pitchFamily="34" charset="0"/>
                <a:ea typeface="Cambria" pitchFamily="34" charset="-122"/>
                <a:cs typeface="Cambria" pitchFamily="34" charset="-120"/>
              </a:rPr>
              <a:t>The system</a:t>
            </a:r>
            <a:endParaRPr lang="en-US" sz="3000" dirty="0"/>
          </a:p>
        </p:txBody>
      </p:sp>
      <p:sp>
        <p:nvSpPr>
          <p:cNvPr id="5" name="Text 3"/>
          <p:cNvSpPr txBox="1"/>
          <p:nvPr/>
        </p:nvSpPr>
        <p:spPr>
          <a:xfrm>
            <a:off x="1207008" y="896112"/>
            <a:ext cx="10314432" cy="310896"/>
          </a:xfrm>
          <a:prstGeom prst="rect">
            <a:avLst/>
          </a:prstGeom>
          <a:noFill/>
          <a:ln/>
        </p:spPr>
        <p:txBody>
          <a:bodyPr wrap="square" lIns="0" tIns="0" rIns="0" bIns="0" rtlCol="0" anchor="ctr"/>
          <a:lstStyle/>
          <a:p>
            <a:pPr indent="0" marL="0">
              <a:buNone/>
            </a:pPr>
            <a:r>
              <a:rPr lang="en-US" sz="1400" i="1" dirty="0">
                <a:solidFill>
                  <a:srgbClr val="5A6B78"/>
                </a:solidFill>
                <a:latin typeface="Calibri" pitchFamily="34" charset="0"/>
                <a:ea typeface="Calibri" pitchFamily="34" charset="-122"/>
                <a:cs typeface="Calibri" pitchFamily="34" charset="-120"/>
              </a:rPr>
              <a:t>Everything runs locally; every piece maps one-to-one onto Databricks.</a:t>
            </a:r>
            <a:endParaRPr lang="en-US" sz="1400" dirty="0"/>
          </a:p>
        </p:txBody>
      </p:sp>
      <p:sp>
        <p:nvSpPr>
          <p:cNvPr id="6" name="Shape 4"/>
          <p:cNvSpPr/>
          <p:nvPr/>
        </p:nvSpPr>
        <p:spPr>
          <a:xfrm>
            <a:off x="640080" y="1783080"/>
            <a:ext cx="1883664" cy="1051560"/>
          </a:xfrm>
          <a:prstGeom prst="roundRect">
            <a:avLst>
              <a:gd name="adj" fmla="val 5217"/>
            </a:avLst>
          </a:prstGeom>
          <a:solidFill>
            <a:srgbClr val="1C7293"/>
          </a:solidFill>
          <a:ln w="12700">
            <a:solidFill>
              <a:srgbClr val="1C7293"/>
            </a:solidFill>
            <a:prstDash val="solid"/>
          </a:ln>
        </p:spPr>
      </p:sp>
      <p:sp>
        <p:nvSpPr>
          <p:cNvPr id="7" name="Text 5"/>
          <p:cNvSpPr txBox="1"/>
          <p:nvPr/>
        </p:nvSpPr>
        <p:spPr>
          <a:xfrm>
            <a:off x="694944" y="1938528"/>
            <a:ext cx="177393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CSV extract</a:t>
            </a:r>
            <a:endParaRPr lang="en-US" sz="1250" dirty="0"/>
          </a:p>
        </p:txBody>
      </p:sp>
      <p:sp>
        <p:nvSpPr>
          <p:cNvPr id="8" name="Text 6"/>
          <p:cNvSpPr txBox="1"/>
          <p:nvPr/>
        </p:nvSpPr>
        <p:spPr>
          <a:xfrm>
            <a:off x="694944" y="2258568"/>
            <a:ext cx="1773936" cy="457200"/>
          </a:xfrm>
          <a:prstGeom prst="rect">
            <a:avLst/>
          </a:prstGeom>
          <a:noFill/>
          <a:ln/>
        </p:spPr>
        <p:txBody>
          <a:bodyPr wrap="square" lIns="0" tIns="0" rIns="0" bIns="0" rtlCol="0" anchor="ctr"/>
          <a:lstStyle/>
          <a:p>
            <a:pPr algn="ctr" indent="0" marL="0">
              <a:buNone/>
            </a:pPr>
            <a:r>
              <a:rPr lang="en-US" sz="950" dirty="0">
                <a:solidFill>
                  <a:srgbClr val="D6E4EB"/>
                </a:solidFill>
                <a:latin typeface="Calibri" pitchFamily="34" charset="0"/>
                <a:ea typeface="Calibri" pitchFamily="34" charset="-122"/>
                <a:cs typeface="Calibri" pitchFamily="34" charset="-120"/>
              </a:rPr>
              <a:t>quality gate</a:t>
            </a:r>
            <a:endParaRPr lang="en-US" sz="950" dirty="0"/>
          </a:p>
        </p:txBody>
      </p:sp>
      <p:sp>
        <p:nvSpPr>
          <p:cNvPr id="9" name="Text 7"/>
          <p:cNvSpPr txBox="1"/>
          <p:nvPr/>
        </p:nvSpPr>
        <p:spPr>
          <a:xfrm>
            <a:off x="2523744" y="2121408"/>
            <a:ext cx="320040" cy="365760"/>
          </a:xfrm>
          <a:prstGeom prst="rect">
            <a:avLst/>
          </a:prstGeom>
          <a:noFill/>
          <a:ln/>
        </p:spPr>
        <p:txBody>
          <a:bodyPr wrap="square" lIns="0" tIns="0" rIns="0" bIns="0" rtlCol="0" anchor="ctr"/>
          <a:lstStyle/>
          <a:p>
            <a:pPr algn="ctr" indent="0" marL="0">
              <a:buNone/>
            </a:pPr>
            <a:r>
              <a:rPr lang="en-US" sz="2200" b="1" dirty="0">
                <a:solidFill>
                  <a:srgbClr val="5A6B78"/>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2843784" y="1783080"/>
            <a:ext cx="1883664" cy="1051560"/>
          </a:xfrm>
          <a:prstGeom prst="roundRect">
            <a:avLst>
              <a:gd name="adj" fmla="val 5217"/>
            </a:avLst>
          </a:prstGeom>
          <a:solidFill>
            <a:srgbClr val="1C7293"/>
          </a:solidFill>
          <a:ln w="12700">
            <a:solidFill>
              <a:srgbClr val="1C7293"/>
            </a:solidFill>
            <a:prstDash val="solid"/>
          </a:ln>
        </p:spPr>
      </p:sp>
      <p:sp>
        <p:nvSpPr>
          <p:cNvPr id="11" name="Text 9"/>
          <p:cNvSpPr txBox="1"/>
          <p:nvPr/>
        </p:nvSpPr>
        <p:spPr>
          <a:xfrm>
            <a:off x="2898648" y="1938528"/>
            <a:ext cx="177393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Delta table</a:t>
            </a:r>
            <a:endParaRPr lang="en-US" sz="1250" dirty="0"/>
          </a:p>
        </p:txBody>
      </p:sp>
      <p:sp>
        <p:nvSpPr>
          <p:cNvPr id="12" name="Text 10"/>
          <p:cNvSpPr txBox="1"/>
          <p:nvPr/>
        </p:nvSpPr>
        <p:spPr>
          <a:xfrm>
            <a:off x="2898648" y="2258568"/>
            <a:ext cx="1773936" cy="457200"/>
          </a:xfrm>
          <a:prstGeom prst="rect">
            <a:avLst/>
          </a:prstGeom>
          <a:noFill/>
          <a:ln/>
        </p:spPr>
        <p:txBody>
          <a:bodyPr wrap="square" lIns="0" tIns="0" rIns="0" bIns="0" rtlCol="0" anchor="ctr"/>
          <a:lstStyle/>
          <a:p>
            <a:pPr algn="ctr" indent="0" marL="0">
              <a:buNone/>
            </a:pPr>
            <a:r>
              <a:rPr lang="en-US" sz="950" dirty="0">
                <a:solidFill>
                  <a:srgbClr val="D6E4EB"/>
                </a:solidFill>
                <a:latin typeface="Calibri" pitchFamily="34" charset="0"/>
                <a:ea typeface="Calibri" pitchFamily="34" charset="-122"/>
                <a:cs typeface="Calibri" pitchFamily="34" charset="-120"/>
              </a:rPr>
              <a:t>versioned, time travel</a:t>
            </a:r>
            <a:endParaRPr lang="en-US" sz="950" dirty="0"/>
          </a:p>
        </p:txBody>
      </p:sp>
      <p:sp>
        <p:nvSpPr>
          <p:cNvPr id="13" name="Text 11"/>
          <p:cNvSpPr txBox="1"/>
          <p:nvPr/>
        </p:nvSpPr>
        <p:spPr>
          <a:xfrm>
            <a:off x="4727448" y="2121408"/>
            <a:ext cx="320040" cy="365760"/>
          </a:xfrm>
          <a:prstGeom prst="rect">
            <a:avLst/>
          </a:prstGeom>
          <a:noFill/>
          <a:ln/>
        </p:spPr>
        <p:txBody>
          <a:bodyPr wrap="square" lIns="0" tIns="0" rIns="0" bIns="0" rtlCol="0" anchor="ctr"/>
          <a:lstStyle/>
          <a:p>
            <a:pPr algn="ctr" indent="0" marL="0">
              <a:buNone/>
            </a:pPr>
            <a:r>
              <a:rPr lang="en-US" sz="2200" b="1" dirty="0">
                <a:solidFill>
                  <a:srgbClr val="5A6B78"/>
                </a:solidFill>
                <a:latin typeface="Calibri" pitchFamily="34" charset="0"/>
                <a:ea typeface="Calibri" pitchFamily="34" charset="-122"/>
                <a:cs typeface="Calibri" pitchFamily="34" charset="-120"/>
              </a:rPr>
              <a:t>›</a:t>
            </a:r>
            <a:endParaRPr lang="en-US" sz="2200" dirty="0"/>
          </a:p>
        </p:txBody>
      </p:sp>
      <p:sp>
        <p:nvSpPr>
          <p:cNvPr id="14" name="Shape 12"/>
          <p:cNvSpPr/>
          <p:nvPr/>
        </p:nvSpPr>
        <p:spPr>
          <a:xfrm>
            <a:off x="5047488" y="1783080"/>
            <a:ext cx="1883664" cy="1051560"/>
          </a:xfrm>
          <a:prstGeom prst="roundRect">
            <a:avLst>
              <a:gd name="adj" fmla="val 5217"/>
            </a:avLst>
          </a:prstGeom>
          <a:solidFill>
            <a:srgbClr val="0F2A3F"/>
          </a:solidFill>
          <a:ln w="12700">
            <a:solidFill>
              <a:srgbClr val="0F2A3F"/>
            </a:solidFill>
            <a:prstDash val="solid"/>
          </a:ln>
        </p:spPr>
      </p:sp>
      <p:sp>
        <p:nvSpPr>
          <p:cNvPr id="15" name="Text 13"/>
          <p:cNvSpPr txBox="1"/>
          <p:nvPr/>
        </p:nvSpPr>
        <p:spPr>
          <a:xfrm>
            <a:off x="5102352" y="1938528"/>
            <a:ext cx="177393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Training job</a:t>
            </a:r>
            <a:endParaRPr lang="en-US" sz="1250" dirty="0"/>
          </a:p>
        </p:txBody>
      </p:sp>
      <p:sp>
        <p:nvSpPr>
          <p:cNvPr id="16" name="Text 14"/>
          <p:cNvSpPr txBox="1"/>
          <p:nvPr/>
        </p:nvSpPr>
        <p:spPr>
          <a:xfrm>
            <a:off x="5102352" y="2258568"/>
            <a:ext cx="1773936" cy="457200"/>
          </a:xfrm>
          <a:prstGeom prst="rect">
            <a:avLst/>
          </a:prstGeom>
          <a:noFill/>
          <a:ln/>
        </p:spPr>
        <p:txBody>
          <a:bodyPr wrap="square" lIns="0" tIns="0" rIns="0" bIns="0" rtlCol="0" anchor="ctr"/>
          <a:lstStyle/>
          <a:p>
            <a:pPr algn="ctr" indent="0" marL="0">
              <a:buNone/>
            </a:pPr>
            <a:r>
              <a:rPr lang="en-US" sz="950" dirty="0">
                <a:solidFill>
                  <a:srgbClr val="D6E4EB"/>
                </a:solidFill>
                <a:latin typeface="Calibri" pitchFamily="34" charset="0"/>
                <a:ea typeface="Calibri" pitchFamily="34" charset="-122"/>
                <a:cs typeface="Calibri" pitchFamily="34" charset="-120"/>
              </a:rPr>
              <a:t>one MLflow run</a:t>
            </a:r>
            <a:endParaRPr lang="en-US" sz="950" dirty="0"/>
          </a:p>
        </p:txBody>
      </p:sp>
      <p:sp>
        <p:nvSpPr>
          <p:cNvPr id="17" name="Text 15"/>
          <p:cNvSpPr txBox="1"/>
          <p:nvPr/>
        </p:nvSpPr>
        <p:spPr>
          <a:xfrm>
            <a:off x="6931152" y="2121408"/>
            <a:ext cx="320040" cy="365760"/>
          </a:xfrm>
          <a:prstGeom prst="rect">
            <a:avLst/>
          </a:prstGeom>
          <a:noFill/>
          <a:ln/>
        </p:spPr>
        <p:txBody>
          <a:bodyPr wrap="square" lIns="0" tIns="0" rIns="0" bIns="0" rtlCol="0" anchor="ctr"/>
          <a:lstStyle/>
          <a:p>
            <a:pPr algn="ctr" indent="0" marL="0">
              <a:buNone/>
            </a:pPr>
            <a:r>
              <a:rPr lang="en-US" sz="2200" b="1" dirty="0">
                <a:solidFill>
                  <a:srgbClr val="5A6B78"/>
                </a:solidFill>
                <a:latin typeface="Calibri" pitchFamily="34" charset="0"/>
                <a:ea typeface="Calibri" pitchFamily="34" charset="-122"/>
                <a:cs typeface="Calibri" pitchFamily="34" charset="-120"/>
              </a:rPr>
              <a:t>›</a:t>
            </a:r>
            <a:endParaRPr lang="en-US" sz="2200" dirty="0"/>
          </a:p>
        </p:txBody>
      </p:sp>
      <p:sp>
        <p:nvSpPr>
          <p:cNvPr id="18" name="Shape 16"/>
          <p:cNvSpPr/>
          <p:nvPr/>
        </p:nvSpPr>
        <p:spPr>
          <a:xfrm>
            <a:off x="7251192" y="1783080"/>
            <a:ext cx="1883664" cy="1051560"/>
          </a:xfrm>
          <a:prstGeom prst="roundRect">
            <a:avLst>
              <a:gd name="adj" fmla="val 5217"/>
            </a:avLst>
          </a:prstGeom>
          <a:solidFill>
            <a:srgbClr val="0F2A3F"/>
          </a:solidFill>
          <a:ln w="12700">
            <a:solidFill>
              <a:srgbClr val="0F2A3F"/>
            </a:solidFill>
            <a:prstDash val="solid"/>
          </a:ln>
        </p:spPr>
      </p:sp>
      <p:sp>
        <p:nvSpPr>
          <p:cNvPr id="19" name="Text 17"/>
          <p:cNvSpPr txBox="1"/>
          <p:nvPr/>
        </p:nvSpPr>
        <p:spPr>
          <a:xfrm>
            <a:off x="7306056" y="1938528"/>
            <a:ext cx="177393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Model version</a:t>
            </a:r>
            <a:endParaRPr lang="en-US" sz="1250" dirty="0"/>
          </a:p>
        </p:txBody>
      </p:sp>
      <p:sp>
        <p:nvSpPr>
          <p:cNvPr id="20" name="Text 18"/>
          <p:cNvSpPr txBox="1"/>
          <p:nvPr/>
        </p:nvSpPr>
        <p:spPr>
          <a:xfrm>
            <a:off x="7306056" y="2258568"/>
            <a:ext cx="1773936" cy="457200"/>
          </a:xfrm>
          <a:prstGeom prst="rect">
            <a:avLst/>
          </a:prstGeom>
          <a:noFill/>
          <a:ln/>
        </p:spPr>
        <p:txBody>
          <a:bodyPr wrap="square" lIns="0" tIns="0" rIns="0" bIns="0" rtlCol="0" anchor="ctr"/>
          <a:lstStyle/>
          <a:p>
            <a:pPr algn="ctr" indent="0" marL="0">
              <a:buNone/>
            </a:pPr>
            <a:r>
              <a:rPr lang="en-US" sz="950" dirty="0">
                <a:solidFill>
                  <a:srgbClr val="D6E4EB"/>
                </a:solidFill>
                <a:latin typeface="Calibri" pitchFamily="34" charset="0"/>
                <a:ea typeface="Calibri" pitchFamily="34" charset="-122"/>
                <a:cs typeface="Calibri" pitchFamily="34" charset="-120"/>
              </a:rPr>
              <a:t>one atomic bundle</a:t>
            </a:r>
            <a:endParaRPr lang="en-US" sz="950" dirty="0"/>
          </a:p>
        </p:txBody>
      </p:sp>
      <p:sp>
        <p:nvSpPr>
          <p:cNvPr id="21" name="Text 19"/>
          <p:cNvSpPr txBox="1"/>
          <p:nvPr/>
        </p:nvSpPr>
        <p:spPr>
          <a:xfrm>
            <a:off x="9134856" y="2121408"/>
            <a:ext cx="320040" cy="365760"/>
          </a:xfrm>
          <a:prstGeom prst="rect">
            <a:avLst/>
          </a:prstGeom>
          <a:noFill/>
          <a:ln/>
        </p:spPr>
        <p:txBody>
          <a:bodyPr wrap="square" lIns="0" tIns="0" rIns="0" bIns="0" rtlCol="0" anchor="ctr"/>
          <a:lstStyle/>
          <a:p>
            <a:pPr algn="ctr" indent="0" marL="0">
              <a:buNone/>
            </a:pPr>
            <a:r>
              <a:rPr lang="en-US" sz="2200" b="1" dirty="0">
                <a:solidFill>
                  <a:srgbClr val="5A6B78"/>
                </a:solidFill>
                <a:latin typeface="Calibri" pitchFamily="34" charset="0"/>
                <a:ea typeface="Calibri" pitchFamily="34" charset="-122"/>
                <a:cs typeface="Calibri" pitchFamily="34" charset="-120"/>
              </a:rPr>
              <a:t>›</a:t>
            </a:r>
            <a:endParaRPr lang="en-US" sz="2200" dirty="0"/>
          </a:p>
        </p:txBody>
      </p:sp>
      <p:sp>
        <p:nvSpPr>
          <p:cNvPr id="22" name="Shape 20"/>
          <p:cNvSpPr/>
          <p:nvPr/>
        </p:nvSpPr>
        <p:spPr>
          <a:xfrm>
            <a:off x="9454896" y="1783080"/>
            <a:ext cx="1883664" cy="1051560"/>
          </a:xfrm>
          <a:prstGeom prst="roundRect">
            <a:avLst>
              <a:gd name="adj" fmla="val 5217"/>
            </a:avLst>
          </a:prstGeom>
          <a:solidFill>
            <a:srgbClr val="E08E45"/>
          </a:solidFill>
          <a:ln w="12700">
            <a:solidFill>
              <a:srgbClr val="E08E45"/>
            </a:solidFill>
            <a:prstDash val="solid"/>
          </a:ln>
        </p:spPr>
      </p:sp>
      <p:sp>
        <p:nvSpPr>
          <p:cNvPr id="23" name="Text 21"/>
          <p:cNvSpPr txBox="1"/>
          <p:nvPr/>
        </p:nvSpPr>
        <p:spPr>
          <a:xfrm>
            <a:off x="9509760" y="1938528"/>
            <a:ext cx="177393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Endpoint</a:t>
            </a:r>
            <a:endParaRPr lang="en-US" sz="1250" dirty="0"/>
          </a:p>
        </p:txBody>
      </p:sp>
      <p:sp>
        <p:nvSpPr>
          <p:cNvPr id="24" name="Text 22"/>
          <p:cNvSpPr txBox="1"/>
          <p:nvPr/>
        </p:nvSpPr>
        <p:spPr>
          <a:xfrm>
            <a:off x="9509760" y="2258568"/>
            <a:ext cx="1773936" cy="457200"/>
          </a:xfrm>
          <a:prstGeom prst="rect">
            <a:avLst/>
          </a:prstGeom>
          <a:noFill/>
          <a:ln/>
        </p:spPr>
        <p:txBody>
          <a:bodyPr wrap="square" lIns="0" tIns="0" rIns="0" bIns="0" rtlCol="0" anchor="ctr"/>
          <a:lstStyle/>
          <a:p>
            <a:pPr algn="ctr" indent="0" marL="0">
              <a:buNone/>
            </a:pPr>
            <a:r>
              <a:rPr lang="en-US" sz="950" dirty="0">
                <a:solidFill>
                  <a:srgbClr val="D6E4EB"/>
                </a:solidFill>
                <a:latin typeface="Calibri" pitchFamily="34" charset="0"/>
                <a:ea typeface="Calibri" pitchFamily="34" charset="-122"/>
                <a:cs typeface="Calibri" pitchFamily="34" charset="-120"/>
              </a:rPr>
              <a:t>champion alias</a:t>
            </a:r>
            <a:endParaRPr lang="en-US" sz="9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3200400"/>
          <a:ext cx="10881360" cy="914400"/>
        </p:xfrm>
        <a:graphic>
          <a:graphicData uri="http://schemas.openxmlformats.org/drawingml/2006/table">
            <a:tbl>
              <a:tblPr/>
              <a:tblGrid>
                <a:gridCol w="5440680"/>
                <a:gridCol w="544068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Local</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F2A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Databricks</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F2A3F"/>
                    </a:solidFill>
                  </a:tcPr>
                </a:tc>
              </a:tr>
              <a:tr h="347472">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delta-rs table on disk</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Unity Catalog Delta table</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r>
              <a:tr h="347472">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MLflow in Docker (sqlite + artifacts)</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workspace tracking server and UC registry</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r>
              <a:tr h="347472">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bl_ranking.training.job</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the three tasks of bl_weekly_training</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r>
              <a:tr h="347472">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APScheduler container</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the job's schedule block</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r>
              <a:tr h="347472">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FastAPI container</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a Model Serving endpoint on the same pyfunc</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r>
            </a:tbl>
          </a:graphicData>
        </a:graphic>
      </p:graphicFrame>
      <p:sp>
        <p:nvSpPr>
          <p:cNvPr id="26" name="Text 23"/>
          <p:cNvSpPr txBox="1"/>
          <p:nvPr/>
        </p:nvSpPr>
        <p:spPr>
          <a:xfrm>
            <a:off x="640080" y="5760720"/>
            <a:ext cx="10881360" cy="365760"/>
          </a:xfrm>
          <a:prstGeom prst="rect">
            <a:avLst/>
          </a:prstGeom>
          <a:noFill/>
          <a:ln/>
        </p:spPr>
        <p:txBody>
          <a:bodyPr wrap="square" lIns="0" tIns="0" rIns="0" bIns="0" rtlCol="0" anchor="ctr"/>
          <a:lstStyle/>
          <a:p>
            <a:pPr indent="0" marL="0">
              <a:buNone/>
            </a:pPr>
            <a:r>
              <a:rPr lang="en-US" sz="1250" i="1" dirty="0">
                <a:solidFill>
                  <a:srgbClr val="5A6B78"/>
                </a:solidFill>
                <a:latin typeface="Calibri" pitchFamily="34" charset="0"/>
                <a:ea typeface="Calibri" pitchFamily="34" charset="-122"/>
                <a:cs typeface="Calibri" pitchFamily="34" charset="-120"/>
              </a:rPr>
              <a:t>One Quartz string in conf/config.yaml drives both schedules — a test asserts they cannot drift apart.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84048" cy="384048"/>
          </a:xfrm>
          <a:prstGeom prst="ellipse">
            <a:avLst/>
          </a:prstGeom>
          <a:solidFill>
            <a:srgbClr val="1C7293"/>
          </a:solidFill>
          <a:ln/>
        </p:spPr>
      </p:sp>
      <p:sp>
        <p:nvSpPr>
          <p:cNvPr id="3" name="Text 1"/>
          <p:cNvSpPr txBox="1"/>
          <p:nvPr/>
        </p:nvSpPr>
        <p:spPr>
          <a:xfrm>
            <a:off x="640080" y="420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4" name="Text 2"/>
          <p:cNvSpPr txBox="1"/>
          <p:nvPr/>
        </p:nvSpPr>
        <p:spPr>
          <a:xfrm>
            <a:off x="1207008" y="365760"/>
            <a:ext cx="10314432" cy="512064"/>
          </a:xfrm>
          <a:prstGeom prst="rect">
            <a:avLst/>
          </a:prstGeom>
          <a:noFill/>
          <a:ln/>
        </p:spPr>
        <p:txBody>
          <a:bodyPr wrap="square" lIns="0" tIns="0" rIns="0" bIns="0" rtlCol="0" anchor="ctr"/>
          <a:lstStyle/>
          <a:p>
            <a:pPr indent="0" marL="0">
              <a:buNone/>
            </a:pPr>
            <a:r>
              <a:rPr lang="en-US" sz="3000" b="1" dirty="0">
                <a:solidFill>
                  <a:srgbClr val="0F2A3F"/>
                </a:solidFill>
                <a:latin typeface="Cambria" pitchFamily="34" charset="0"/>
                <a:ea typeface="Cambria" pitchFamily="34" charset="-122"/>
                <a:cs typeface="Cambria" pitchFamily="34" charset="-120"/>
              </a:rPr>
              <a:t>Training: two modes, one job</a:t>
            </a:r>
            <a:endParaRPr lang="en-US" sz="3000" dirty="0"/>
          </a:p>
        </p:txBody>
      </p:sp>
      <p:sp>
        <p:nvSpPr>
          <p:cNvPr id="5" name="Text 3"/>
          <p:cNvSpPr txBox="1"/>
          <p:nvPr/>
        </p:nvSpPr>
        <p:spPr>
          <a:xfrm>
            <a:off x="1207008" y="896112"/>
            <a:ext cx="10314432" cy="310896"/>
          </a:xfrm>
          <a:prstGeom prst="rect">
            <a:avLst/>
          </a:prstGeom>
          <a:noFill/>
          <a:ln/>
        </p:spPr>
        <p:txBody>
          <a:bodyPr wrap="square" lIns="0" tIns="0" rIns="0" bIns="0" rtlCol="0" anchor="ctr"/>
          <a:lstStyle/>
          <a:p>
            <a:pPr indent="0" marL="0">
              <a:buNone/>
            </a:pPr>
            <a:r>
              <a:rPr lang="en-US" sz="1400" i="1" dirty="0">
                <a:solidFill>
                  <a:srgbClr val="5A6B78"/>
                </a:solidFill>
                <a:latin typeface="Calibri" pitchFamily="34" charset="0"/>
                <a:ea typeface="Calibri" pitchFamily="34" charset="-122"/>
                <a:cs typeface="Calibri" pitchFamily="34" charset="-120"/>
              </a:rPr>
              <a:t>Both research modes preserved, both fully instrumented.</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881360" cy="914400"/>
        </p:xfrm>
        <a:graphic>
          <a:graphicData uri="http://schemas.openxmlformats.org/drawingml/2006/table">
            <a:tbl>
              <a:tblPr/>
              <a:tblGrid>
                <a:gridCol w="1554480"/>
                <a:gridCol w="4663440"/>
                <a:gridCol w="4663440"/>
              </a:tblGrid>
              <a:tr h="384048">
                <a:tc>
                  <a:txBody>
                    <a:bodyPr/>
                    <a:lstStyle/>
                    <a:p>
                      <a:pP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F2A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train_test = True</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F2A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train_test = False</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F2A3F"/>
                    </a:solidFill>
                  </a:tcPr>
                </a:tc>
              </a:tr>
              <a:tr h="384048">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data</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all but the last 7 days</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everything</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r>
              <a:tr h="384048">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output</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per-day reports, payout MAE / MAPE</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the four research artifacts</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r>
              <a:tr h="384048">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registry</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nothing</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a new version, champion moved</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r>
              <a:tr h="384048">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run by</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a researcher, on demand</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the Sunday 05:00 schedule</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r>
            </a:tbl>
          </a:graphicData>
        </a:graphic>
      </p:graphicFrame>
      <p:sp>
        <p:nvSpPr>
          <p:cNvPr id="7" name="Text 4"/>
          <p:cNvSpPr txBox="1"/>
          <p:nvPr/>
        </p:nvSpPr>
        <p:spPr>
          <a:xfrm>
            <a:off x="640080" y="3703320"/>
            <a:ext cx="5486400" cy="310896"/>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Logged on every run, so any two runs compare</a:t>
            </a:r>
            <a:endParaRPr lang="en-US" sz="1300" dirty="0"/>
          </a:p>
        </p:txBody>
      </p:sp>
      <p:sp>
        <p:nvSpPr>
          <p:cNvPr id="8" name="Text 5"/>
          <p:cNvSpPr txBox="1"/>
          <p:nvPr/>
        </p:nvSpPr>
        <p:spPr>
          <a:xfrm>
            <a:off x="640080" y="4069080"/>
            <a:ext cx="5486400" cy="2103120"/>
          </a:xfrm>
          <a:prstGeom prst="rect">
            <a:avLst/>
          </a:prstGeom>
          <a:noFill/>
          <a:ln/>
        </p:spPr>
        <p:txBody>
          <a:bodyPr wrap="square" rtlCol="0" anchor="t"/>
          <a:lstStyle/>
          <a:p>
            <a:pPr marL="342900" indent="-342900">
              <a:lnSpc>
                <a:spcPts val="1885"/>
              </a:lnSpc>
              <a:spcAft>
                <a:spcPts val="700"/>
              </a:spcAft>
              <a:buSzPct val="100000"/>
              <a:buChar char="•"/>
            </a:pPr>
            <a:r>
              <a:rPr lang="en-US" sz="1300" dirty="0">
                <a:solidFill>
                  <a:srgbClr val="2B3A44"/>
                </a:solidFill>
                <a:latin typeface="Calibri" pitchFamily="34" charset="0"/>
                <a:ea typeface="Calibri" pitchFamily="34" charset="-122"/>
                <a:cs typeface="Calibri" pitchFamily="34" charset="-120"/>
              </a:rPr>
              <a:t>Delta table version, row and session counts, the data window</a:t>
            </a:r>
            <a:endParaRPr lang="en-US" sz="1300" dirty="0"/>
          </a:p>
          <a:p>
            <a:pPr marL="342900" indent="-342900">
              <a:lnSpc>
                <a:spcPts val="1885"/>
              </a:lnSpc>
              <a:spcAft>
                <a:spcPts val="700"/>
              </a:spcAft>
              <a:buSzPct val="100000"/>
              <a:buChar char="•"/>
            </a:pPr>
            <a:r>
              <a:rPr lang="en-US" sz="1300" dirty="0">
                <a:solidFill>
                  <a:srgbClr val="2B3A44"/>
                </a:solidFill>
                <a:latin typeface="Calibri" pitchFamily="34" charset="0"/>
                <a:ea typeface="Calibri" pitchFamily="34" charset="-122"/>
                <a:cs typeface="Calibri" pitchFamily="34" charset="-120"/>
              </a:rPr>
              <a:t>Every CatBoost hyper-parameter, the payout backend and context size</a:t>
            </a:r>
            <a:endParaRPr lang="en-US" sz="1300" dirty="0"/>
          </a:p>
          <a:p>
            <a:pPr marL="342900" indent="-342900">
              <a:lnSpc>
                <a:spcPts val="1885"/>
              </a:lnSpc>
              <a:spcAft>
                <a:spcPts val="700"/>
              </a:spcAft>
              <a:buSzPct val="100000"/>
              <a:buChar char="•"/>
            </a:pPr>
            <a:r>
              <a:rPr lang="en-US" sz="1300" dirty="0">
                <a:solidFill>
                  <a:srgbClr val="2B3A44"/>
                </a:solidFill>
                <a:latin typeface="Calibri" pitchFamily="34" charset="0"/>
                <a:ea typeface="Calibri" pitchFamily="34" charset="-122"/>
                <a:cs typeface="Calibri" pitchFamily="34" charset="-120"/>
              </a:rPr>
              <a:t>git SHA, a checksum of the research scripts, library versions</a:t>
            </a:r>
            <a:endParaRPr lang="en-US" sz="1300" dirty="0"/>
          </a:p>
          <a:p>
            <a:pPr marL="342900" indent="-342900">
              <a:lnSpc>
                <a:spcPts val="1885"/>
              </a:lnSpc>
              <a:spcAft>
                <a:spcPts val="700"/>
              </a:spcAft>
              <a:buSzPct val="100000"/>
              <a:buChar char="•"/>
            </a:pPr>
            <a:r>
              <a:rPr lang="en-US" sz="1300" dirty="0">
                <a:solidFill>
                  <a:srgbClr val="2B3A44"/>
                </a:solidFill>
                <a:latin typeface="Calibri" pitchFamily="34" charset="0"/>
                <a:ea typeface="Calibri" pitchFamily="34" charset="-122"/>
                <a:cs typeface="Calibri" pitchFamily="34" charset="-120"/>
              </a:rPr>
              <a:t>Ingest repair counters — a jump means the upstream extract changed</a:t>
            </a:r>
            <a:endParaRPr lang="en-US" sz="1300" dirty="0"/>
          </a:p>
        </p:txBody>
      </p:sp>
      <p:sp>
        <p:nvSpPr>
          <p:cNvPr id="9" name="Shape 6"/>
          <p:cNvSpPr/>
          <p:nvPr/>
        </p:nvSpPr>
        <p:spPr>
          <a:xfrm>
            <a:off x="6583680" y="3703320"/>
            <a:ext cx="4937760" cy="2148840"/>
          </a:xfrm>
          <a:prstGeom prst="roundRect">
            <a:avLst>
              <a:gd name="adj" fmla="val 2553"/>
            </a:avLst>
          </a:prstGeom>
          <a:solidFill>
            <a:srgbClr val="F4F7F9"/>
          </a:solidFill>
          <a:ln w="12700">
            <a:solidFill>
              <a:srgbClr val="F4F7F9"/>
            </a:solidFill>
            <a:prstDash val="solid"/>
          </a:ln>
        </p:spPr>
      </p:sp>
      <p:sp>
        <p:nvSpPr>
          <p:cNvPr id="10" name="Text 7"/>
          <p:cNvSpPr txBox="1"/>
          <p:nvPr/>
        </p:nvSpPr>
        <p:spPr>
          <a:xfrm>
            <a:off x="6812280" y="3886200"/>
            <a:ext cx="4480560" cy="310896"/>
          </a:xfrm>
          <a:prstGeom prst="rect">
            <a:avLst/>
          </a:prstGeom>
          <a:noFill/>
          <a:ln/>
        </p:spPr>
        <p:txBody>
          <a:bodyPr wrap="square" lIns="0" tIns="0" rIns="0" bIns="0" rtlCol="0" anchor="ctr"/>
          <a:lstStyle/>
          <a:p>
            <a:pPr indent="0" marL="0">
              <a:buNone/>
            </a:pPr>
            <a:r>
              <a:rPr lang="en-US" sz="1300" b="1" dirty="0">
                <a:solidFill>
                  <a:srgbClr val="E08E45"/>
                </a:solidFill>
                <a:latin typeface="Calibri" pitchFamily="34" charset="0"/>
                <a:ea typeface="Calibri" pitchFamily="34" charset="-122"/>
                <a:cs typeface="Calibri" pitchFamily="34" charset="-120"/>
              </a:rPr>
              <a:t>The researcher log</a:t>
            </a:r>
            <a:endParaRPr lang="en-US" sz="1300" dirty="0"/>
          </a:p>
        </p:txBody>
      </p:sp>
      <p:sp>
        <p:nvSpPr>
          <p:cNvPr id="11" name="Text 8"/>
          <p:cNvSpPr txBox="1"/>
          <p:nvPr/>
        </p:nvSpPr>
        <p:spPr>
          <a:xfrm>
            <a:off x="6812280" y="4224528"/>
            <a:ext cx="4480560" cy="1508760"/>
          </a:xfrm>
          <a:prstGeom prst="rect">
            <a:avLst/>
          </a:prstGeom>
          <a:noFill/>
          <a:ln/>
        </p:spPr>
        <p:txBody>
          <a:bodyPr wrap="square" lIns="0" tIns="0" rIns="0" bIns="0" rtlCol="0" anchor="ctr"/>
          <a:lstStyle/>
          <a:p>
            <a:pPr indent="0" marL="0">
              <a:lnSpc>
                <a:spcPts val="1800"/>
              </a:lnSpc>
              <a:buNone/>
            </a:pPr>
            <a:r>
              <a:rPr lang="en-US" sz="1250" dirty="0">
                <a:solidFill>
                  <a:srgbClr val="2B3A44"/>
                </a:solidFill>
                <a:latin typeface="Calibri" pitchFamily="34" charset="0"/>
                <a:ea typeface="Calibri" pitchFamily="34" charset="-122"/>
                <a:cs typeface="Calibri" pitchFamily="34" charset="-120"/>
              </a:rPr>
              <a:t>Attached verbatim as an MLflow artifact. The production wrapper calls super() before capturing anything, so the file is byte-for-byte what the research code would have written on its own — and the same numbers are also captured as floats, so they chart across runs.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84048" cy="384048"/>
          </a:xfrm>
          <a:prstGeom prst="ellipse">
            <a:avLst/>
          </a:prstGeom>
          <a:solidFill>
            <a:srgbClr val="1C7293"/>
          </a:solidFill>
          <a:ln/>
        </p:spPr>
      </p:sp>
      <p:sp>
        <p:nvSpPr>
          <p:cNvPr id="3" name="Text 1"/>
          <p:cNvSpPr txBox="1"/>
          <p:nvPr/>
        </p:nvSpPr>
        <p:spPr>
          <a:xfrm>
            <a:off x="640080" y="420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 name="Text 2"/>
          <p:cNvSpPr txBox="1"/>
          <p:nvPr/>
        </p:nvSpPr>
        <p:spPr>
          <a:xfrm>
            <a:off x="1207008" y="365760"/>
            <a:ext cx="10314432" cy="512064"/>
          </a:xfrm>
          <a:prstGeom prst="rect">
            <a:avLst/>
          </a:prstGeom>
          <a:noFill/>
          <a:ln/>
        </p:spPr>
        <p:txBody>
          <a:bodyPr wrap="square" lIns="0" tIns="0" rIns="0" bIns="0" rtlCol="0" anchor="ctr"/>
          <a:lstStyle/>
          <a:p>
            <a:pPr indent="0" marL="0">
              <a:buNone/>
            </a:pPr>
            <a:r>
              <a:rPr lang="en-US" sz="3000" b="1" dirty="0">
                <a:solidFill>
                  <a:srgbClr val="0F2A3F"/>
                </a:solidFill>
                <a:latin typeface="Cambria" pitchFamily="34" charset="0"/>
                <a:ea typeface="Cambria" pitchFamily="34" charset="-122"/>
                <a:cs typeface="Cambria" pitchFamily="34" charset="-120"/>
              </a:rPr>
              <a:t>One run, one version, one rollback</a:t>
            </a:r>
            <a:endParaRPr lang="en-US" sz="3000" dirty="0"/>
          </a:p>
        </p:txBody>
      </p:sp>
      <p:sp>
        <p:nvSpPr>
          <p:cNvPr id="5" name="Text 3"/>
          <p:cNvSpPr txBox="1"/>
          <p:nvPr/>
        </p:nvSpPr>
        <p:spPr>
          <a:xfrm>
            <a:off x="1207008" y="896112"/>
            <a:ext cx="10314432" cy="310896"/>
          </a:xfrm>
          <a:prstGeom prst="rect">
            <a:avLst/>
          </a:prstGeom>
          <a:noFill/>
          <a:ln/>
        </p:spPr>
        <p:txBody>
          <a:bodyPr wrap="square" lIns="0" tIns="0" rIns="0" bIns="0" rtlCol="0" anchor="ctr"/>
          <a:lstStyle/>
          <a:p>
            <a:pPr indent="0" marL="0">
              <a:buNone/>
            </a:pPr>
            <a:r>
              <a:rPr lang="en-US" sz="1400" i="1" dirty="0">
                <a:solidFill>
                  <a:srgbClr val="5A6B78"/>
                </a:solidFill>
                <a:latin typeface="Calibri" pitchFamily="34" charset="0"/>
                <a:ea typeface="Calibri" pitchFamily="34" charset="-122"/>
                <a:cs typeface="Calibri" pitchFamily="34" charset="-120"/>
              </a:rPr>
              <a:t>Why the bundle has to be atomic.</a:t>
            </a:r>
            <a:endParaRPr lang="en-US" sz="1400" dirty="0"/>
          </a:p>
        </p:txBody>
      </p:sp>
      <p:sp>
        <p:nvSpPr>
          <p:cNvPr id="6" name="Shape 4"/>
          <p:cNvSpPr/>
          <p:nvPr/>
        </p:nvSpPr>
        <p:spPr>
          <a:xfrm>
            <a:off x="640080" y="1572768"/>
            <a:ext cx="10881360" cy="1051560"/>
          </a:xfrm>
          <a:prstGeom prst="roundRect">
            <a:avLst>
              <a:gd name="adj" fmla="val 5217"/>
            </a:avLst>
          </a:prstGeom>
          <a:solidFill>
            <a:srgbClr val="FBF1E8"/>
          </a:solidFill>
          <a:ln w="12700">
            <a:solidFill>
              <a:srgbClr val="F0DCC8"/>
            </a:solidFill>
            <a:prstDash val="solid"/>
          </a:ln>
        </p:spPr>
      </p:sp>
      <p:sp>
        <p:nvSpPr>
          <p:cNvPr id="7" name="Text 5"/>
          <p:cNvSpPr txBox="1"/>
          <p:nvPr/>
        </p:nvSpPr>
        <p:spPr>
          <a:xfrm>
            <a:off x="896112" y="1737360"/>
            <a:ext cx="10369296" cy="777240"/>
          </a:xfrm>
          <a:prstGeom prst="rect">
            <a:avLst/>
          </a:prstGeom>
          <a:noFill/>
          <a:ln/>
        </p:spPr>
        <p:txBody>
          <a:bodyPr wrap="square" lIns="0" tIns="0" rIns="0" bIns="0" rtlCol="0" anchor="ctr"/>
          <a:lstStyle/>
          <a:p>
            <a:pPr indent="0" marL="0">
              <a:lnSpc>
                <a:spcPts val="1900"/>
              </a:lnSpc>
              <a:buNone/>
            </a:pPr>
            <a:r>
              <a:rPr lang="en-US" sz="1350" b="1" dirty="0">
                <a:solidFill>
                  <a:srgbClr val="E08E45"/>
                </a:solidFill>
                <a:latin typeface="Calibri" pitchFamily="34" charset="0"/>
                <a:ea typeface="Calibri" pitchFamily="34" charset="-122"/>
                <a:cs typeface="Calibri" pitchFamily="34" charset="-120"/>
              </a:rPr>
              <a:t>The hazard:  </a:t>
            </a:r>
            <a:pPr indent="0" marL="0">
              <a:lnSpc>
                <a:spcPts val="1900"/>
              </a:lnSpc>
              <a:buNone/>
            </a:pPr>
            <a:r>
              <a:rPr lang="en-US" sz="1350" dirty="0">
                <a:solidFill>
                  <a:srgbClr val="2B3A44"/>
                </a:solidFill>
                <a:latin typeface="Calibri" pitchFamily="34" charset="0"/>
                <a:ea typeface="Calibri" pitchFamily="34" charset="-122"/>
                <a:cs typeface="Calibri" pitchFamily="34" charset="-120"/>
              </a:rPr>
              <a:t>prediction_expected_payout reorders the frame by the </a:t>
            </a:r>
            <a:pPr indent="0" marL="0">
              <a:lnSpc>
                <a:spcPts val="1900"/>
              </a:lnSpc>
              <a:buNone/>
            </a:pPr>
            <a:r>
              <a:rPr lang="en-US" sz="1350" b="1" i="1" dirty="0">
                <a:solidFill>
                  <a:srgbClr val="2B3A44"/>
                </a:solidFill>
                <a:latin typeface="Calibri" pitchFamily="34" charset="0"/>
                <a:ea typeface="Calibri" pitchFamily="34" charset="-122"/>
                <a:cs typeface="Calibri" pitchFamily="34" charset="-120"/>
              </a:rPr>
              <a:t>payout</a:t>
            </a:r>
            <a:pPr indent="0" marL="0">
              <a:lnSpc>
                <a:spcPts val="1900"/>
              </a:lnSpc>
              <a:buNone/>
            </a:pPr>
            <a:r>
              <a:rPr lang="en-US" sz="1350" dirty="0">
                <a:solidFill>
                  <a:srgbClr val="2B3A44"/>
                </a:solidFill>
                <a:latin typeface="Calibri" pitchFamily="34" charset="0"/>
                <a:ea typeface="Calibri" pitchFamily="34" charset="-122"/>
                <a:cs typeface="Calibri" pitchFamily="34" charset="-120"/>
              </a:rPr>
              <a:t> model's column list and then feeds it to the </a:t>
            </a:r>
            <a:pPr indent="0" marL="0">
              <a:lnSpc>
                <a:spcPts val="1900"/>
              </a:lnSpc>
              <a:buNone/>
            </a:pPr>
            <a:r>
              <a:rPr lang="en-US" sz="1350" b="1" i="1" dirty="0">
                <a:solidFill>
                  <a:srgbClr val="2B3A44"/>
                </a:solidFill>
                <a:latin typeface="Calibri" pitchFamily="34" charset="0"/>
                <a:ea typeface="Calibri" pitchFamily="34" charset="-122"/>
                <a:cs typeface="Calibri" pitchFamily="34" charset="-120"/>
              </a:rPr>
              <a:t>classifier</a:t>
            </a:r>
            <a:pPr indent="0" marL="0">
              <a:lnSpc>
                <a:spcPts val="1900"/>
              </a:lnSpc>
              <a:buNone/>
            </a:pPr>
            <a:r>
              <a:rPr lang="en-US" sz="1350" dirty="0">
                <a:solidFill>
                  <a:srgbClr val="2B3A44"/>
                </a:solidFill>
                <a:latin typeface="Calibri" pitchFamily="34" charset="0"/>
                <a:ea typeface="Calibri" pitchFamily="34" charset="-122"/>
                <a:cs typeface="Calibri" pitchFamily="34" charset="-120"/>
              </a:rPr>
              <a:t>. Mix artifacts from two runs and features are mis-slotted — silently. No error, just a worse ranking.</a:t>
            </a:r>
            <a:endParaRPr lang="en-US" sz="1350" dirty="0"/>
          </a:p>
        </p:txBody>
      </p:sp>
      <p:sp>
        <p:nvSpPr>
          <p:cNvPr id="8" name="Text 6"/>
          <p:cNvSpPr txBox="1"/>
          <p:nvPr/>
        </p:nvSpPr>
        <p:spPr>
          <a:xfrm>
            <a:off x="640080" y="2880360"/>
            <a:ext cx="5669280" cy="310896"/>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So a model version is the whole set, registered together</a:t>
            </a:r>
            <a:endParaRPr lang="en-US" sz="1300" dirty="0"/>
          </a:p>
        </p:txBody>
      </p:sp>
      <p:sp>
        <p:nvSpPr>
          <p:cNvPr id="9" name="Text 7"/>
          <p:cNvSpPr txBox="1"/>
          <p:nvPr/>
        </p:nvSpPr>
        <p:spPr>
          <a:xfrm>
            <a:off x="640080" y="3246120"/>
            <a:ext cx="5669280" cy="2377440"/>
          </a:xfrm>
          <a:prstGeom prst="rect">
            <a:avLst/>
          </a:prstGeom>
          <a:noFill/>
          <a:ln/>
        </p:spPr>
        <p:txBody>
          <a:bodyPr wrap="square" rtlCol="0" anchor="t"/>
          <a:lstStyle/>
          <a:p>
            <a:pPr marL="342900" indent="-342900">
              <a:lnSpc>
                <a:spcPts val="1885"/>
              </a:lnSpc>
              <a:spcAft>
                <a:spcPts val="700"/>
              </a:spcAft>
              <a:buSzPct val="100000"/>
              <a:buChar char="•"/>
            </a:pPr>
            <a:r>
              <a:rPr lang="en-US" sz="1300" dirty="0">
                <a:solidFill>
                  <a:srgbClr val="2B3A44"/>
                </a:solidFill>
                <a:latin typeface="Calibri" pitchFamily="34" charset="0"/>
                <a:ea typeface="Calibri" pitchFamily="34" charset="-122"/>
                <a:cs typeface="Calibri" pitchFamily="34" charset="-120"/>
              </a:rPr>
              <a:t>CB_bl_lead.cbm — the classifier</a:t>
            </a:r>
            <a:endParaRPr lang="en-US" sz="1300" dirty="0"/>
          </a:p>
          <a:p>
            <a:pPr marL="342900" indent="-342900">
              <a:lnSpc>
                <a:spcPts val="1885"/>
              </a:lnSpc>
              <a:spcAft>
                <a:spcPts val="700"/>
              </a:spcAft>
              <a:buSzPct val="100000"/>
              <a:buChar char="•"/>
            </a:pPr>
            <a:r>
              <a:rPr lang="en-US" sz="1300" dirty="0">
                <a:solidFill>
                  <a:srgbClr val="2B3A44"/>
                </a:solidFill>
                <a:latin typeface="Calibri" pitchFamily="34" charset="0"/>
                <a:ea typeface="Calibri" pitchFamily="34" charset="-122"/>
                <a:cs typeface="Calibri" pitchFamily="34" charset="-120"/>
              </a:rPr>
              <a:t>payout_tfm_context.joblib — the in-context rows</a:t>
            </a:r>
            <a:endParaRPr lang="en-US" sz="1300" dirty="0"/>
          </a:p>
          <a:p>
            <a:pPr marL="342900" indent="-342900">
              <a:lnSpc>
                <a:spcPts val="1885"/>
              </a:lnSpc>
              <a:spcAft>
                <a:spcPts val="700"/>
              </a:spcAft>
              <a:buSzPct val="100000"/>
              <a:buChar char="•"/>
            </a:pPr>
            <a:r>
              <a:rPr lang="en-US" sz="1300" dirty="0">
                <a:solidFill>
                  <a:srgbClr val="2B3A44"/>
                </a:solidFill>
                <a:latin typeface="Calibri" pitchFamily="34" charset="0"/>
                <a:ea typeface="Calibri" pitchFamily="34" charset="-122"/>
                <a:cs typeface="Calibri" pitchFamily="34" charset="-120"/>
              </a:rPr>
              <a:t>all_clients.csv — the brand universe</a:t>
            </a:r>
            <a:endParaRPr lang="en-US" sz="1300" dirty="0"/>
          </a:p>
          <a:p>
            <a:pPr marL="342900" indent="-342900">
              <a:lnSpc>
                <a:spcPts val="1885"/>
              </a:lnSpc>
              <a:spcAft>
                <a:spcPts val="700"/>
              </a:spcAft>
              <a:buSzPct val="100000"/>
              <a:buChar char="•"/>
            </a:pPr>
            <a:r>
              <a:rPr lang="en-US" sz="1300" dirty="0">
                <a:solidFill>
                  <a:srgbClr val="2B3A44"/>
                </a:solidFill>
                <a:latin typeface="Calibri" pitchFamily="34" charset="0"/>
                <a:ea typeface="Calibri" pitchFamily="34" charset="-122"/>
                <a:cs typeface="Calibri" pitchFamily="34" charset="-120"/>
              </a:rPr>
              <a:t>gender_lookup.parquet — the precomputed feature</a:t>
            </a:r>
            <a:endParaRPr lang="en-US" sz="1300" dirty="0"/>
          </a:p>
          <a:p>
            <a:pPr marL="342900" indent="-342900">
              <a:lnSpc>
                <a:spcPts val="1885"/>
              </a:lnSpc>
              <a:spcAft>
                <a:spcPts val="700"/>
              </a:spcAft>
              <a:buSzPct val="100000"/>
              <a:buChar char="•"/>
            </a:pPr>
            <a:r>
              <a:rPr lang="en-US" sz="1300" dirty="0">
                <a:solidFill>
                  <a:srgbClr val="2B3A44"/>
                </a:solidFill>
                <a:latin typeface="Calibri" pitchFamily="34" charset="0"/>
                <a:ea typeface="Calibri" pitchFamily="34" charset="-122"/>
                <a:cs typeface="Calibri" pitchFamily="34" charset="-120"/>
              </a:rPr>
              <a:t>manifest.json — run id, data version, backend, git SHA</a:t>
            </a:r>
            <a:endParaRPr lang="en-US" sz="1300" dirty="0"/>
          </a:p>
        </p:txBody>
      </p:sp>
      <p:sp>
        <p:nvSpPr>
          <p:cNvPr id="10" name="Text 8"/>
          <p:cNvSpPr txBox="1"/>
          <p:nvPr/>
        </p:nvSpPr>
        <p:spPr>
          <a:xfrm>
            <a:off x="6675120" y="2880360"/>
            <a:ext cx="4846320" cy="310896"/>
          </a:xfrm>
          <a:prstGeom prst="rect">
            <a:avLst/>
          </a:prstGeom>
          <a:noFill/>
          <a:ln/>
        </p:spPr>
        <p:txBody>
          <a:bodyPr wrap="square" lIns="0" tIns="0" rIns="0" bIns="0" rtlCol="0" anchor="ctr"/>
          <a:lstStyle/>
          <a:p>
            <a:pPr indent="0" marL="0">
              <a:buNone/>
            </a:pPr>
            <a:r>
              <a:rPr lang="en-US" sz="1300" b="1" dirty="0">
                <a:solidFill>
                  <a:srgbClr val="E08E45"/>
                </a:solidFill>
                <a:latin typeface="Calibri" pitchFamily="34" charset="0"/>
                <a:ea typeface="Calibri" pitchFamily="34" charset="-122"/>
                <a:cs typeface="Calibri" pitchFamily="34" charset="-120"/>
              </a:rPr>
              <a:t>Rollback</a:t>
            </a:r>
            <a:endParaRPr lang="en-US" sz="1300" dirty="0"/>
          </a:p>
        </p:txBody>
      </p:sp>
      <p:sp>
        <p:nvSpPr>
          <p:cNvPr id="11" name="Shape 9"/>
          <p:cNvSpPr/>
          <p:nvPr/>
        </p:nvSpPr>
        <p:spPr>
          <a:xfrm>
            <a:off x="6675120" y="3246120"/>
            <a:ext cx="4846320" cy="1051560"/>
          </a:xfrm>
          <a:prstGeom prst="roundRect">
            <a:avLst>
              <a:gd name="adj" fmla="val 4348"/>
            </a:avLst>
          </a:prstGeom>
          <a:solidFill>
            <a:srgbClr val="0F2A3F"/>
          </a:solidFill>
          <a:ln w="12700">
            <a:solidFill>
              <a:srgbClr val="0F2A3F"/>
            </a:solidFill>
            <a:prstDash val="solid"/>
          </a:ln>
        </p:spPr>
      </p:sp>
      <p:sp>
        <p:nvSpPr>
          <p:cNvPr id="12" name="Text 10"/>
          <p:cNvSpPr txBox="1"/>
          <p:nvPr/>
        </p:nvSpPr>
        <p:spPr>
          <a:xfrm>
            <a:off x="6858000" y="3401568"/>
            <a:ext cx="4572000" cy="777240"/>
          </a:xfrm>
          <a:prstGeom prst="rect">
            <a:avLst/>
          </a:prstGeom>
          <a:noFill/>
          <a:ln/>
        </p:spPr>
        <p:txBody>
          <a:bodyPr wrap="square" lIns="0" tIns="0" rIns="0" bIns="0" rtlCol="0" anchor="ctr"/>
          <a:lstStyle/>
          <a:p>
            <a:pPr indent="0" marL="0">
              <a:lnSpc>
                <a:spcPts val="2000"/>
              </a:lnSpc>
              <a:buNone/>
            </a:pPr>
            <a:r>
              <a:rPr lang="en-US" sz="1300" dirty="0">
                <a:solidFill>
                  <a:srgbClr val="9FE0C8"/>
                </a:solidFill>
                <a:latin typeface="Courier New" pitchFamily="34" charset="0"/>
                <a:ea typeface="Courier New" pitchFamily="34" charset="-122"/>
                <a:cs typeface="Courier New" pitchFamily="34" charset="-120"/>
              </a:rPr>
              <a:t>make rollback VERSION=3</a:t>
            </a:r>
            <a:endParaRPr lang="en-US" sz="1300" dirty="0"/>
          </a:p>
          <a:p>
            <a:pPr indent="0" marL="0">
              <a:lnSpc>
                <a:spcPts val="2000"/>
              </a:lnSpc>
              <a:buNone/>
            </a:pPr>
            <a:r>
              <a:rPr lang="en-US" sz="1300" dirty="0">
                <a:solidFill>
                  <a:srgbClr val="9FE0C8"/>
                </a:solidFill>
                <a:latin typeface="Courier New" pitchFamily="34" charset="0"/>
                <a:ea typeface="Courier New" pitchFamily="34" charset="-122"/>
                <a:cs typeface="Courier New" pitchFamily="34" charset="-120"/>
              </a:rPr>
              <a:t>docker compose restart api</a:t>
            </a:r>
            <a:endParaRPr lang="en-US" sz="1300" dirty="0"/>
          </a:p>
        </p:txBody>
      </p:sp>
      <p:sp>
        <p:nvSpPr>
          <p:cNvPr id="13" name="Text 11"/>
          <p:cNvSpPr txBox="1"/>
          <p:nvPr/>
        </p:nvSpPr>
        <p:spPr>
          <a:xfrm>
            <a:off x="6675120" y="4434840"/>
            <a:ext cx="4846320" cy="1280160"/>
          </a:xfrm>
          <a:prstGeom prst="rect">
            <a:avLst/>
          </a:prstGeom>
          <a:noFill/>
          <a:ln/>
        </p:spPr>
        <p:txBody>
          <a:bodyPr wrap="square" lIns="0" tIns="0" rIns="0" bIns="0" rtlCol="0" anchor="ctr"/>
          <a:lstStyle/>
          <a:p>
            <a:pPr indent="0" marL="0">
              <a:lnSpc>
                <a:spcPts val="1800"/>
              </a:lnSpc>
              <a:buNone/>
            </a:pPr>
            <a:r>
              <a:rPr lang="en-US" sz="1250" dirty="0">
                <a:solidFill>
                  <a:srgbClr val="2B3A44"/>
                </a:solidFill>
                <a:latin typeface="Calibri" pitchFamily="34" charset="0"/>
                <a:ea typeface="Calibri" pitchFamily="34" charset="-122"/>
                <a:cs typeface="Calibri" pitchFamily="34" charset="-120"/>
              </a:rPr>
              <a:t>The alias move takes all five files back together. The replaced version is kept as champion_previous, so the rollback is itself reversible. GET /model reports what a live worker actually loaded.</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84048" cy="384048"/>
          </a:xfrm>
          <a:prstGeom prst="ellipse">
            <a:avLst/>
          </a:prstGeom>
          <a:solidFill>
            <a:srgbClr val="1C7293"/>
          </a:solidFill>
          <a:ln/>
        </p:spPr>
      </p:sp>
      <p:sp>
        <p:nvSpPr>
          <p:cNvPr id="3" name="Text 1"/>
          <p:cNvSpPr txBox="1"/>
          <p:nvPr/>
        </p:nvSpPr>
        <p:spPr>
          <a:xfrm>
            <a:off x="640080" y="420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 name="Text 2"/>
          <p:cNvSpPr txBox="1"/>
          <p:nvPr/>
        </p:nvSpPr>
        <p:spPr>
          <a:xfrm>
            <a:off x="1207008" y="365760"/>
            <a:ext cx="10314432" cy="512064"/>
          </a:xfrm>
          <a:prstGeom prst="rect">
            <a:avLst/>
          </a:prstGeom>
          <a:noFill/>
          <a:ln/>
        </p:spPr>
        <p:txBody>
          <a:bodyPr wrap="square" lIns="0" tIns="0" rIns="0" bIns="0" rtlCol="0" anchor="ctr"/>
          <a:lstStyle/>
          <a:p>
            <a:pPr indent="0" marL="0">
              <a:buNone/>
            </a:pPr>
            <a:r>
              <a:rPr lang="en-US" sz="3000" b="1" dirty="0">
                <a:solidFill>
                  <a:srgbClr val="0F2A3F"/>
                </a:solidFill>
                <a:latin typeface="Cambria" pitchFamily="34" charset="0"/>
                <a:ea typeface="Cambria" pitchFamily="34" charset="-122"/>
                <a:cs typeface="Cambria" pitchFamily="34" charset="-120"/>
              </a:rPr>
              <a:t>Dilemma 1 — “don't change the logic” vs 60 ms</a:t>
            </a:r>
            <a:endParaRPr lang="en-US" sz="3000" dirty="0"/>
          </a:p>
        </p:txBody>
      </p:sp>
      <p:sp>
        <p:nvSpPr>
          <p:cNvPr id="5" name="Text 3"/>
          <p:cNvSpPr txBox="1"/>
          <p:nvPr/>
        </p:nvSpPr>
        <p:spPr>
          <a:xfrm>
            <a:off x="1207008" y="896112"/>
            <a:ext cx="10314432" cy="310896"/>
          </a:xfrm>
          <a:prstGeom prst="rect">
            <a:avLst/>
          </a:prstGeom>
          <a:noFill/>
          <a:ln/>
        </p:spPr>
        <p:txBody>
          <a:bodyPr wrap="square" lIns="0" tIns="0" rIns="0" bIns="0" rtlCol="0" anchor="ctr"/>
          <a:lstStyle/>
          <a:p>
            <a:pPr indent="0" marL="0">
              <a:buNone/>
            </a:pPr>
            <a:r>
              <a:rPr lang="en-US" sz="1400" i="1" dirty="0">
                <a:solidFill>
                  <a:srgbClr val="5A6B78"/>
                </a:solidFill>
                <a:latin typeface="Calibri" pitchFamily="34" charset="0"/>
                <a:ea typeface="Calibri" pitchFamily="34" charset="-122"/>
                <a:cs typeface="Calibri" pitchFamily="34" charset="-120"/>
              </a:rPr>
              <a:t>The brief forbids editing the transforms, and asks to minimise latency.</a:t>
            </a:r>
            <a:endParaRPr lang="en-US" sz="1400" dirty="0"/>
          </a:p>
        </p:txBody>
      </p:sp>
      <p:sp>
        <p:nvSpPr>
          <p:cNvPr id="6" name="Text 4"/>
          <p:cNvSpPr txBox="1"/>
          <p:nvPr/>
        </p:nvSpPr>
        <p:spPr>
          <a:xfrm>
            <a:off x="640080" y="1554480"/>
            <a:ext cx="10881360" cy="658368"/>
          </a:xfrm>
          <a:prstGeom prst="rect">
            <a:avLst/>
          </a:prstGeom>
          <a:noFill/>
          <a:ln/>
        </p:spPr>
        <p:txBody>
          <a:bodyPr wrap="square" lIns="0" tIns="0" rIns="0" bIns="0" rtlCol="0" anchor="ctr"/>
          <a:lstStyle/>
          <a:p>
            <a:pPr indent="0" marL="0">
              <a:lnSpc>
                <a:spcPts val="2100"/>
              </a:lnSpc>
              <a:buNone/>
            </a:pPr>
            <a:r>
              <a:rPr lang="en-US" sz="1400" dirty="0">
                <a:solidFill>
                  <a:srgbClr val="2B3A44"/>
                </a:solidFill>
                <a:latin typeface="Calibri" pitchFamily="34" charset="0"/>
                <a:ea typeface="Calibri" pitchFamily="34" charset="-122"/>
                <a:cs typeface="Calibri" pitchFamily="34" charset="-120"/>
              </a:rPr>
              <a:t>One request, models already warm, is 60 ms. Almost none of it is arithmetic — it is roughly a hundred pandas calls to transform fifteen rows, and the cost is per operation, not per row.</a:t>
            </a:r>
            <a:endParaRPr lang="en-US" sz="1400" dirty="0"/>
          </a:p>
        </p:txBody>
      </p:sp>
      <p:sp>
        <p:nvSpPr>
          <p:cNvPr id="7" name="Shape 5"/>
          <p:cNvSpPr/>
          <p:nvPr/>
        </p:nvSpPr>
        <p:spPr>
          <a:xfrm>
            <a:off x="640080" y="2395728"/>
            <a:ext cx="3456432" cy="1828800"/>
          </a:xfrm>
          <a:prstGeom prst="roundRect">
            <a:avLst>
              <a:gd name="adj" fmla="val 3000"/>
            </a:avLst>
          </a:prstGeom>
          <a:solidFill>
            <a:srgbClr val="F4F7F9"/>
          </a:solidFill>
          <a:ln w="12700">
            <a:solidFill>
              <a:srgbClr val="F4F7F9"/>
            </a:solidFill>
            <a:prstDash val="solid"/>
          </a:ln>
        </p:spPr>
      </p:sp>
      <p:sp>
        <p:nvSpPr>
          <p:cNvPr id="8" name="Text 6"/>
          <p:cNvSpPr txBox="1"/>
          <p:nvPr/>
        </p:nvSpPr>
        <p:spPr>
          <a:xfrm>
            <a:off x="841248" y="2578608"/>
            <a:ext cx="3054096" cy="347472"/>
          </a:xfrm>
          <a:prstGeom prst="rect">
            <a:avLst/>
          </a:prstGeom>
          <a:noFill/>
          <a:ln/>
        </p:spPr>
        <p:txBody>
          <a:bodyPr wrap="square" lIns="0" tIns="0" rIns="0" bIns="0" rtlCol="0" anchor="ctr"/>
          <a:lstStyle/>
          <a:p>
            <a:pPr indent="0" marL="0">
              <a:buNone/>
            </a:pPr>
            <a:r>
              <a:rPr lang="en-US" sz="1400" b="1" dirty="0">
                <a:solidFill>
                  <a:srgbClr val="D9534F"/>
                </a:solidFill>
                <a:latin typeface="Calibri" pitchFamily="34" charset="0"/>
                <a:ea typeface="Calibri" pitchFamily="34" charset="-122"/>
                <a:cs typeface="Calibri" pitchFamily="34" charset="-120"/>
              </a:rPr>
              <a:t>Ship 60 ms</a:t>
            </a:r>
            <a:endParaRPr lang="en-US" sz="1400" dirty="0"/>
          </a:p>
        </p:txBody>
      </p:sp>
      <p:sp>
        <p:nvSpPr>
          <p:cNvPr id="9" name="Text 7"/>
          <p:cNvSpPr txBox="1"/>
          <p:nvPr/>
        </p:nvSpPr>
        <p:spPr>
          <a:xfrm>
            <a:off x="841248" y="2944368"/>
            <a:ext cx="3054096" cy="1188720"/>
          </a:xfrm>
          <a:prstGeom prst="rect">
            <a:avLst/>
          </a:prstGeom>
          <a:noFill/>
          <a:ln/>
        </p:spPr>
        <p:txBody>
          <a:bodyPr wrap="square" lIns="0" tIns="0" rIns="0" bIns="0" rtlCol="0" anchor="ctr"/>
          <a:lstStyle/>
          <a:p>
            <a:pPr indent="0" marL="0">
              <a:lnSpc>
                <a:spcPts val="1700"/>
              </a:lnSpc>
              <a:buNone/>
            </a:pPr>
            <a:r>
              <a:rPr lang="en-US" sz="1200" dirty="0">
                <a:solidFill>
                  <a:srgbClr val="2B3A44"/>
                </a:solidFill>
                <a:latin typeface="Calibri" pitchFamily="34" charset="0"/>
                <a:ea typeface="Calibri" pitchFamily="34" charset="-122"/>
                <a:cs typeface="Calibri" pitchFamily="34" charset="-120"/>
              </a:rPr>
              <a:t>Defensible on the letter of the brief. Indefensible on 'minimise latency' — it is the whole budget for a loading page.</a:t>
            </a:r>
            <a:endParaRPr lang="en-US" sz="1200" dirty="0"/>
          </a:p>
        </p:txBody>
      </p:sp>
      <p:sp>
        <p:nvSpPr>
          <p:cNvPr id="10" name="Shape 8"/>
          <p:cNvSpPr/>
          <p:nvPr/>
        </p:nvSpPr>
        <p:spPr>
          <a:xfrm>
            <a:off x="4370832" y="2395728"/>
            <a:ext cx="3456432" cy="1828800"/>
          </a:xfrm>
          <a:prstGeom prst="roundRect">
            <a:avLst>
              <a:gd name="adj" fmla="val 3000"/>
            </a:avLst>
          </a:prstGeom>
          <a:solidFill>
            <a:srgbClr val="F4F7F9"/>
          </a:solidFill>
          <a:ln w="12700">
            <a:solidFill>
              <a:srgbClr val="F4F7F9"/>
            </a:solidFill>
            <a:prstDash val="solid"/>
          </a:ln>
        </p:spPr>
      </p:sp>
      <p:sp>
        <p:nvSpPr>
          <p:cNvPr id="11" name="Text 9"/>
          <p:cNvSpPr txBox="1"/>
          <p:nvPr/>
        </p:nvSpPr>
        <p:spPr>
          <a:xfrm>
            <a:off x="4572000" y="2578608"/>
            <a:ext cx="3054096" cy="347472"/>
          </a:xfrm>
          <a:prstGeom prst="rect">
            <a:avLst/>
          </a:prstGeom>
          <a:noFill/>
          <a:ln/>
        </p:spPr>
        <p:txBody>
          <a:bodyPr wrap="square" lIns="0" tIns="0" rIns="0" bIns="0" rtlCol="0" anchor="ctr"/>
          <a:lstStyle/>
          <a:p>
            <a:pPr indent="0" marL="0">
              <a:buNone/>
            </a:pPr>
            <a:r>
              <a:rPr lang="en-US" sz="1400" b="1" dirty="0">
                <a:solidFill>
                  <a:srgbClr val="D9534F"/>
                </a:solidFill>
                <a:latin typeface="Calibri" pitchFamily="34" charset="0"/>
                <a:ea typeface="Calibri" pitchFamily="34" charset="-122"/>
                <a:cs typeface="Calibri" pitchFamily="34" charset="-120"/>
              </a:rPr>
              <a:t>Edit the transforms</a:t>
            </a:r>
            <a:endParaRPr lang="en-US" sz="1400" dirty="0"/>
          </a:p>
        </p:txBody>
      </p:sp>
      <p:sp>
        <p:nvSpPr>
          <p:cNvPr id="12" name="Text 10"/>
          <p:cNvSpPr txBox="1"/>
          <p:nvPr/>
        </p:nvSpPr>
        <p:spPr>
          <a:xfrm>
            <a:off x="4572000" y="2944368"/>
            <a:ext cx="3054096" cy="1188720"/>
          </a:xfrm>
          <a:prstGeom prst="rect">
            <a:avLst/>
          </a:prstGeom>
          <a:noFill/>
          <a:ln/>
        </p:spPr>
        <p:txBody>
          <a:bodyPr wrap="square" lIns="0" tIns="0" rIns="0" bIns="0" rtlCol="0" anchor="ctr"/>
          <a:lstStyle/>
          <a:p>
            <a:pPr indent="0" marL="0">
              <a:lnSpc>
                <a:spcPts val="1700"/>
              </a:lnSpc>
              <a:buNone/>
            </a:pPr>
            <a:r>
              <a:rPr lang="en-US" sz="1200" dirty="0">
                <a:solidFill>
                  <a:srgbClr val="2B3A44"/>
                </a:solidFill>
                <a:latin typeface="Calibri" pitchFamily="34" charset="0"/>
                <a:ea typeface="Calibri" pitchFamily="34" charset="-122"/>
                <a:cs typeface="Calibri" pitchFamily="34" charset="-120"/>
              </a:rPr>
              <a:t>Fastest to write. Exactly what the brief forbids, and unverifiable.</a:t>
            </a:r>
            <a:endParaRPr lang="en-US" sz="1200" dirty="0"/>
          </a:p>
        </p:txBody>
      </p:sp>
      <p:sp>
        <p:nvSpPr>
          <p:cNvPr id="13" name="Shape 11"/>
          <p:cNvSpPr/>
          <p:nvPr/>
        </p:nvSpPr>
        <p:spPr>
          <a:xfrm>
            <a:off x="8101584" y="2395728"/>
            <a:ext cx="3456432" cy="1828800"/>
          </a:xfrm>
          <a:prstGeom prst="roundRect">
            <a:avLst>
              <a:gd name="adj" fmla="val 3000"/>
            </a:avLst>
          </a:prstGeom>
          <a:solidFill>
            <a:srgbClr val="E8F2F6"/>
          </a:solidFill>
          <a:ln w="12700">
            <a:solidFill>
              <a:srgbClr val="1C7293"/>
            </a:solidFill>
            <a:prstDash val="solid"/>
          </a:ln>
        </p:spPr>
      </p:sp>
      <p:sp>
        <p:nvSpPr>
          <p:cNvPr id="14" name="Text 12"/>
          <p:cNvSpPr txBox="1"/>
          <p:nvPr/>
        </p:nvSpPr>
        <p:spPr>
          <a:xfrm>
            <a:off x="8302752" y="2578608"/>
            <a:ext cx="3054096" cy="347472"/>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Write it twice, prove they agree</a:t>
            </a:r>
            <a:endParaRPr lang="en-US" sz="1400" dirty="0"/>
          </a:p>
        </p:txBody>
      </p:sp>
      <p:sp>
        <p:nvSpPr>
          <p:cNvPr id="15" name="Text 13"/>
          <p:cNvSpPr txBox="1"/>
          <p:nvPr/>
        </p:nvSpPr>
        <p:spPr>
          <a:xfrm>
            <a:off x="8302752" y="2944368"/>
            <a:ext cx="3054096" cy="1188720"/>
          </a:xfrm>
          <a:prstGeom prst="rect">
            <a:avLst/>
          </a:prstGeom>
          <a:noFill/>
          <a:ln/>
        </p:spPr>
        <p:txBody>
          <a:bodyPr wrap="square" lIns="0" tIns="0" rIns="0" bIns="0" rtlCol="0" anchor="ctr"/>
          <a:lstStyle/>
          <a:p>
            <a:pPr indent="0" marL="0">
              <a:lnSpc>
                <a:spcPts val="1700"/>
              </a:lnSpc>
              <a:buNone/>
            </a:pPr>
            <a:r>
              <a:rPr lang="en-US" sz="1200" dirty="0">
                <a:solidFill>
                  <a:srgbClr val="2B3A44"/>
                </a:solidFill>
                <a:latin typeface="Calibri" pitchFamily="34" charset="0"/>
                <a:ea typeface="Calibri" pitchFamily="34" charset="-122"/>
                <a:cs typeface="Calibri" pitchFamily="34" charset="-120"/>
              </a:rPr>
              <a:t>A second implementation, plus a differential test that fails CI if they ever diverge.</a:t>
            </a:r>
            <a:endParaRPr lang="en-US" sz="1200" dirty="0"/>
          </a:p>
        </p:txBody>
      </p:sp>
      <p:sp>
        <p:nvSpPr>
          <p:cNvPr id="16" name="Text 14"/>
          <p:cNvSpPr txBox="1"/>
          <p:nvPr/>
        </p:nvSpPr>
        <p:spPr>
          <a:xfrm>
            <a:off x="640080" y="4526280"/>
            <a:ext cx="10881360" cy="1188720"/>
          </a:xfrm>
          <a:prstGeom prst="rect">
            <a:avLst/>
          </a:prstGeom>
          <a:noFill/>
          <a:ln/>
        </p:spPr>
        <p:txBody>
          <a:bodyPr wrap="square" lIns="0" tIns="0" rIns="0" bIns="0" rtlCol="0" anchor="ctr"/>
          <a:lstStyle/>
          <a:p>
            <a:pPr indent="0" marL="0">
              <a:lnSpc>
                <a:spcPts val="2000"/>
              </a:lnSpc>
              <a:buNone/>
            </a:pPr>
            <a:r>
              <a:rPr lang="en-US" sz="1350" b="1" dirty="0">
                <a:solidFill>
                  <a:srgbClr val="0F2A3F"/>
                </a:solidFill>
                <a:latin typeface="Calibri" pitchFamily="34" charset="0"/>
                <a:ea typeface="Calibri" pitchFamily="34" charset="-122"/>
                <a:cs typeface="Calibri" pitchFamily="34" charset="-120"/>
              </a:rPr>
              <a:t>The proof is the point.  </a:t>
            </a:r>
            <a:pPr indent="0" marL="0">
              <a:lnSpc>
                <a:spcPts val="2000"/>
              </a:lnSpc>
              <a:buNone/>
            </a:pPr>
            <a:r>
              <a:rPr lang="en-US" sz="1350" dirty="0">
                <a:solidFill>
                  <a:srgbClr val="2B3A44"/>
                </a:solidFill>
                <a:latin typeface="Calibri" pitchFamily="34" charset="0"/>
                <a:ea typeface="Calibri" pitchFamily="34" charset="-122"/>
                <a:cs typeface="Calibri" pitchFamily="34" charset="-120"/>
              </a:rPr>
              <a:t>Hundreds of randomised users — well-formed, malformed, and ones the pipeline legitimately refuses — must produce identical brand order, identical ranks and identical payouts on both paths. It caught two divergences I had not anticipated, and both turned out to be bugs in the original.</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84048" cy="384048"/>
          </a:xfrm>
          <a:prstGeom prst="ellipse">
            <a:avLst/>
          </a:prstGeom>
          <a:solidFill>
            <a:srgbClr val="1C7293"/>
          </a:solidFill>
          <a:ln/>
        </p:spPr>
      </p:sp>
      <p:sp>
        <p:nvSpPr>
          <p:cNvPr id="3" name="Text 1"/>
          <p:cNvSpPr txBox="1"/>
          <p:nvPr/>
        </p:nvSpPr>
        <p:spPr>
          <a:xfrm>
            <a:off x="640080" y="420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 name="Text 2"/>
          <p:cNvSpPr txBox="1"/>
          <p:nvPr/>
        </p:nvSpPr>
        <p:spPr>
          <a:xfrm>
            <a:off x="1207008" y="365760"/>
            <a:ext cx="10314432" cy="512064"/>
          </a:xfrm>
          <a:prstGeom prst="rect">
            <a:avLst/>
          </a:prstGeom>
          <a:noFill/>
          <a:ln/>
        </p:spPr>
        <p:txBody>
          <a:bodyPr wrap="square" lIns="0" tIns="0" rIns="0" bIns="0" rtlCol="0" anchor="ctr"/>
          <a:lstStyle/>
          <a:p>
            <a:pPr indent="0" marL="0">
              <a:buNone/>
            </a:pPr>
            <a:r>
              <a:rPr lang="en-US" sz="3000" b="1" dirty="0">
                <a:solidFill>
                  <a:srgbClr val="0F2A3F"/>
                </a:solidFill>
                <a:latin typeface="Cambria" pitchFamily="34" charset="0"/>
                <a:ea typeface="Cambria" pitchFamily="34" charset="-122"/>
                <a:cs typeface="Cambria" pitchFamily="34" charset="-120"/>
              </a:rPr>
              <a:t>How the 60 ms went away</a:t>
            </a:r>
            <a:endParaRPr lang="en-US" sz="3000" dirty="0"/>
          </a:p>
        </p:txBody>
      </p:sp>
      <p:sp>
        <p:nvSpPr>
          <p:cNvPr id="5" name="Text 3"/>
          <p:cNvSpPr txBox="1"/>
          <p:nvPr/>
        </p:nvSpPr>
        <p:spPr>
          <a:xfrm>
            <a:off x="1207008" y="896112"/>
            <a:ext cx="10314432" cy="310896"/>
          </a:xfrm>
          <a:prstGeom prst="rect">
            <a:avLst/>
          </a:prstGeom>
          <a:noFill/>
          <a:ln/>
        </p:spPr>
        <p:txBody>
          <a:bodyPr wrap="square" lIns="0" tIns="0" rIns="0" bIns="0" rtlCol="0" anchor="ctr"/>
          <a:lstStyle/>
          <a:p>
            <a:pPr indent="0" marL="0">
              <a:buNone/>
            </a:pPr>
            <a:r>
              <a:rPr lang="en-US" sz="1400" i="1" dirty="0">
                <a:solidFill>
                  <a:srgbClr val="5A6B78"/>
                </a:solidFill>
                <a:latin typeface="Calibri" pitchFamily="34" charset="0"/>
                <a:ea typeface="Calibri" pitchFamily="34" charset="-122"/>
                <a:cs typeface="Calibri" pitchFamily="34" charset="-120"/>
              </a:rPr>
              <a:t>Every step exact-preserving, and tested.</a:t>
            </a:r>
            <a:endParaRPr lang="en-US" sz="1400" dirty="0"/>
          </a:p>
        </p:txBody>
      </p:sp>
      <p:graphicFrame>
        <p:nvGraphicFramePr>
          <p:cNvPr id="6" name="Chart 0" descr=""/>
          <p:cNvGraphicFramePr/>
          <p:nvPr/>
        </p:nvGraphicFramePr>
        <p:xfrm>
          <a:off x="640080" y="1554480"/>
          <a:ext cx="6400800" cy="30175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360920" y="1554480"/>
            <a:ext cx="1965960" cy="1371600"/>
          </a:xfrm>
          <a:prstGeom prst="roundRect">
            <a:avLst>
              <a:gd name="adj" fmla="val 4000"/>
            </a:avLst>
          </a:prstGeom>
          <a:solidFill>
            <a:srgbClr val="F4F7F9"/>
          </a:solidFill>
          <a:ln w="12700">
            <a:solidFill>
              <a:srgbClr val="F4F7F9"/>
            </a:solidFill>
            <a:prstDash val="solid"/>
          </a:ln>
        </p:spPr>
      </p:sp>
      <p:sp>
        <p:nvSpPr>
          <p:cNvPr id="8" name="Text 5"/>
          <p:cNvSpPr txBox="1"/>
          <p:nvPr/>
        </p:nvSpPr>
        <p:spPr>
          <a:xfrm>
            <a:off x="7507224" y="1700784"/>
            <a:ext cx="1673352" cy="713232"/>
          </a:xfrm>
          <a:prstGeom prst="rect">
            <a:avLst/>
          </a:prstGeom>
          <a:noFill/>
          <a:ln/>
        </p:spPr>
        <p:txBody>
          <a:bodyPr wrap="square" lIns="0" tIns="0" rIns="0" bIns="0" rtlCol="0" anchor="ctr"/>
          <a:lstStyle/>
          <a:p>
            <a:pPr algn="ctr" indent="0" marL="0">
              <a:buNone/>
            </a:pPr>
            <a:r>
              <a:rPr lang="en-US" sz="3200" b="1" dirty="0">
                <a:solidFill>
                  <a:srgbClr val="1C7293"/>
                </a:solidFill>
                <a:latin typeface="Cambria" pitchFamily="34" charset="0"/>
                <a:ea typeface="Cambria" pitchFamily="34" charset="-122"/>
                <a:cs typeface="Cambria" pitchFamily="34" charset="-120"/>
              </a:rPr>
              <a:t>25×</a:t>
            </a:r>
            <a:endParaRPr lang="en-US" sz="3200" dirty="0"/>
          </a:p>
        </p:txBody>
      </p:sp>
      <p:sp>
        <p:nvSpPr>
          <p:cNvPr id="9" name="Text 6"/>
          <p:cNvSpPr txBox="1"/>
          <p:nvPr/>
        </p:nvSpPr>
        <p:spPr>
          <a:xfrm>
            <a:off x="7470648" y="2432304"/>
            <a:ext cx="1746504" cy="402336"/>
          </a:xfrm>
          <a:prstGeom prst="rect">
            <a:avLst/>
          </a:prstGeom>
          <a:noFill/>
          <a:ln/>
        </p:spPr>
        <p:txBody>
          <a:bodyPr wrap="square" lIns="0" tIns="0" rIns="0" bIns="0" rtlCol="0" anchor="t"/>
          <a:lstStyle/>
          <a:p>
            <a:pPr algn="ctr" indent="0" marL="0">
              <a:buNone/>
            </a:pPr>
            <a:r>
              <a:rPr lang="en-US" sz="1100" dirty="0">
                <a:solidFill>
                  <a:srgbClr val="5A6B78"/>
                </a:solidFill>
                <a:latin typeface="Calibri" pitchFamily="34" charset="0"/>
                <a:ea typeface="Calibri" pitchFamily="34" charset="-122"/>
                <a:cs typeface="Calibri" pitchFamily="34" charset="-120"/>
              </a:rPr>
              <a:t>faster, same output</a:t>
            </a:r>
            <a:endParaRPr lang="en-US" sz="1100" dirty="0"/>
          </a:p>
        </p:txBody>
      </p:sp>
      <p:sp>
        <p:nvSpPr>
          <p:cNvPr id="10" name="Shape 7"/>
          <p:cNvSpPr/>
          <p:nvPr/>
        </p:nvSpPr>
        <p:spPr>
          <a:xfrm>
            <a:off x="9555480" y="1554480"/>
            <a:ext cx="1965960" cy="1371600"/>
          </a:xfrm>
          <a:prstGeom prst="roundRect">
            <a:avLst>
              <a:gd name="adj" fmla="val 4000"/>
            </a:avLst>
          </a:prstGeom>
          <a:solidFill>
            <a:srgbClr val="F4F7F9"/>
          </a:solidFill>
          <a:ln w="12700">
            <a:solidFill>
              <a:srgbClr val="F4F7F9"/>
            </a:solidFill>
            <a:prstDash val="solid"/>
          </a:ln>
        </p:spPr>
      </p:sp>
      <p:sp>
        <p:nvSpPr>
          <p:cNvPr id="11" name="Text 8"/>
          <p:cNvSpPr txBox="1"/>
          <p:nvPr/>
        </p:nvSpPr>
        <p:spPr>
          <a:xfrm>
            <a:off x="9701784" y="1700784"/>
            <a:ext cx="1673352" cy="713232"/>
          </a:xfrm>
          <a:prstGeom prst="rect">
            <a:avLst/>
          </a:prstGeom>
          <a:noFill/>
          <a:ln/>
        </p:spPr>
        <p:txBody>
          <a:bodyPr wrap="square" lIns="0" tIns="0" rIns="0" bIns="0" rtlCol="0" anchor="ctr"/>
          <a:lstStyle/>
          <a:p>
            <a:pPr algn="ctr" indent="0" marL="0">
              <a:buNone/>
            </a:pPr>
            <a:r>
              <a:rPr lang="en-US" sz="3200" b="1" dirty="0">
                <a:solidFill>
                  <a:srgbClr val="E08E45"/>
                </a:solidFill>
                <a:latin typeface="Cambria" pitchFamily="34" charset="0"/>
                <a:ea typeface="Cambria" pitchFamily="34" charset="-122"/>
                <a:cs typeface="Cambria" pitchFamily="34" charset="-120"/>
              </a:rPr>
              <a:t>0</a:t>
            </a:r>
            <a:endParaRPr lang="en-US" sz="3200" dirty="0"/>
          </a:p>
        </p:txBody>
      </p:sp>
      <p:sp>
        <p:nvSpPr>
          <p:cNvPr id="12" name="Text 9"/>
          <p:cNvSpPr txBox="1"/>
          <p:nvPr/>
        </p:nvSpPr>
        <p:spPr>
          <a:xfrm>
            <a:off x="9665208" y="2432304"/>
            <a:ext cx="1746504" cy="402336"/>
          </a:xfrm>
          <a:prstGeom prst="rect">
            <a:avLst/>
          </a:prstGeom>
          <a:noFill/>
          <a:ln/>
        </p:spPr>
        <p:txBody>
          <a:bodyPr wrap="square" lIns="0" tIns="0" rIns="0" bIns="0" rtlCol="0" anchor="t"/>
          <a:lstStyle/>
          <a:p>
            <a:pPr algn="ctr" indent="0" marL="0">
              <a:buNone/>
            </a:pPr>
            <a:r>
              <a:rPr lang="en-US" sz="1100" dirty="0">
                <a:solidFill>
                  <a:srgbClr val="5A6B78"/>
                </a:solidFill>
                <a:latin typeface="Calibri" pitchFamily="34" charset="0"/>
                <a:ea typeface="Calibri" pitchFamily="34" charset="-122"/>
                <a:cs typeface="Calibri" pitchFamily="34" charset="-120"/>
              </a:rPr>
              <a:t>divergences in test</a:t>
            </a:r>
            <a:endParaRPr lang="en-US" sz="1100" dirty="0"/>
          </a:p>
        </p:txBody>
      </p:sp>
      <p:sp>
        <p:nvSpPr>
          <p:cNvPr id="13" name="Text 10"/>
          <p:cNvSpPr txBox="1"/>
          <p:nvPr/>
        </p:nvSpPr>
        <p:spPr>
          <a:xfrm>
            <a:off x="7360920" y="3154680"/>
            <a:ext cx="4160520" cy="310896"/>
          </a:xfrm>
          <a:prstGeom prst="rect">
            <a:avLst/>
          </a:prstGeom>
          <a:noFill/>
          <a:ln/>
        </p:spPr>
        <p:txBody>
          <a:bodyPr wrap="square" lIns="0" tIns="0" rIns="0" bIns="0" rtlCol="0" anchor="ctr"/>
          <a:lstStyle/>
          <a:p>
            <a:pPr indent="0" marL="0">
              <a:buNone/>
            </a:pPr>
            <a:r>
              <a:rPr lang="en-US" sz="1300" b="1" dirty="0">
                <a:solidFill>
                  <a:srgbClr val="0F2A3F"/>
                </a:solidFill>
                <a:latin typeface="Calibri" pitchFamily="34" charset="0"/>
                <a:ea typeface="Calibri" pitchFamily="34" charset="-122"/>
                <a:cs typeface="Calibri" pitchFamily="34" charset="-120"/>
              </a:rPr>
              <a:t>The largest single costs</a:t>
            </a:r>
            <a:endParaRPr lang="en-US" sz="1300" dirty="0"/>
          </a:p>
        </p:txBody>
      </p:sp>
      <p:sp>
        <p:nvSpPr>
          <p:cNvPr id="14" name="Text 11"/>
          <p:cNvSpPr txBox="1"/>
          <p:nvPr/>
        </p:nvSpPr>
        <p:spPr>
          <a:xfrm>
            <a:off x="7360920" y="3493008"/>
            <a:ext cx="4160520" cy="2011680"/>
          </a:xfrm>
          <a:prstGeom prst="rect">
            <a:avLst/>
          </a:prstGeom>
          <a:noFill/>
          <a:ln/>
        </p:spPr>
        <p:txBody>
          <a:bodyPr wrap="square" rtlCol="0" anchor="t"/>
          <a:lstStyle/>
          <a:p>
            <a:pPr marL="342900" indent="-342900">
              <a:lnSpc>
                <a:spcPts val="1740"/>
              </a:lnSpc>
              <a:spcAft>
                <a:spcPts val="700"/>
              </a:spcAft>
              <a:buSzPct val="100000"/>
              <a:buChar char="•"/>
            </a:pPr>
            <a:r>
              <a:rPr lang="en-US" sz="1200" dirty="0">
                <a:solidFill>
                  <a:srgbClr val="2B3A44"/>
                </a:solidFill>
                <a:latin typeface="Calibri" pitchFamily="34" charset="0"/>
                <a:ea typeface="Calibri" pitchFamily="34" charset="-122"/>
                <a:cs typeface="Calibri" pitchFamily="34" charset="-120"/>
              </a:rPr>
              <a:t>cross join — 3.0 ms</a:t>
            </a:r>
            <a:endParaRPr lang="en-US" sz="1200" dirty="0"/>
          </a:p>
          <a:p>
            <a:pPr marL="342900" indent="-342900">
              <a:lnSpc>
                <a:spcPts val="1740"/>
              </a:lnSpc>
              <a:spcAft>
                <a:spcPts val="700"/>
              </a:spcAft>
              <a:buSzPct val="100000"/>
              <a:buChar char="•"/>
            </a:pPr>
            <a:r>
              <a:rPr lang="en-US" sz="1200" dirty="0">
                <a:solidFill>
                  <a:srgbClr val="2B3A44"/>
                </a:solidFill>
                <a:latin typeface="Calibri" pitchFamily="34" charset="0"/>
                <a:ea typeface="Calibri" pitchFamily="34" charset="-122"/>
                <a:cs typeface="Calibri" pitchFamily="34" charset="-120"/>
              </a:rPr>
              <a:t>DataFrame from a dict — 0.9 ms</a:t>
            </a:r>
            <a:endParaRPr lang="en-US" sz="1200" dirty="0"/>
          </a:p>
          <a:p>
            <a:pPr marL="342900" indent="-342900">
              <a:lnSpc>
                <a:spcPts val="1740"/>
              </a:lnSpc>
              <a:spcAft>
                <a:spcPts val="700"/>
              </a:spcAft>
              <a:buSzPct val="100000"/>
              <a:buChar char="•"/>
            </a:pPr>
            <a:r>
              <a:rPr lang="en-US" sz="1200" dirty="0">
                <a:solidFill>
                  <a:srgbClr val="2B3A44"/>
                </a:solidFill>
                <a:latin typeface="Calibri" pitchFamily="34" charset="0"/>
                <a:ea typeface="Calibri" pitchFamily="34" charset="-122"/>
                <a:cs typeface="Calibri" pitchFamily="34" charset="-120"/>
              </a:rPr>
              <a:t>four to_datetime calls — 0.6 ms each</a:t>
            </a:r>
            <a:endParaRPr lang="en-US" sz="1200" dirty="0"/>
          </a:p>
          <a:p>
            <a:pPr marL="342900" indent="-342900">
              <a:lnSpc>
                <a:spcPts val="1740"/>
              </a:lnSpc>
              <a:spcAft>
                <a:spcPts val="700"/>
              </a:spcAft>
              <a:buSzPct val="100000"/>
              <a:buChar char="•"/>
            </a:pPr>
            <a:r>
              <a:rPr lang="en-US" sz="1200" dirty="0">
                <a:solidFill>
                  <a:srgbClr val="2B3A44"/>
                </a:solidFill>
                <a:latin typeface="Calibri" pitchFamily="34" charset="0"/>
                <a:ea typeface="Calibri" pitchFamily="34" charset="-122"/>
                <a:cs typeface="Calibri" pitchFamily="34" charset="-120"/>
              </a:rPr>
              <a:t>apply(lambda: pd.Series) — 1.3 ms</a:t>
            </a:r>
            <a:endParaRPr lang="en-US" sz="1200" dirty="0"/>
          </a:p>
          <a:p>
            <a:pPr marL="342900" indent="-342900">
              <a:lnSpc>
                <a:spcPts val="1740"/>
              </a:lnSpc>
              <a:spcAft>
                <a:spcPts val="700"/>
              </a:spcAft>
              <a:buSzPct val="100000"/>
              <a:buChar char="•"/>
            </a:pPr>
            <a:r>
              <a:rPr lang="en-US" sz="1200" dirty="0">
                <a:solidFill>
                  <a:srgbClr val="2B3A44"/>
                </a:solidFill>
                <a:latin typeface="Calibri" pitchFamily="34" charset="0"/>
                <a:ea typeface="Calibri" pitchFamily="34" charset="-122"/>
                <a:cs typeface="Calibri" pitchFamily="34" charset="-120"/>
              </a:rPr>
              <a:t>~20 .loc assignments — 0.33 ms each</a:t>
            </a:r>
            <a:endParaRPr lang="en-US" sz="1200" dirty="0"/>
          </a:p>
        </p:txBody>
      </p:sp>
      <p:sp>
        <p:nvSpPr>
          <p:cNvPr id="15" name="Text 12"/>
          <p:cNvSpPr txBox="1"/>
          <p:nvPr/>
        </p:nvSpPr>
        <p:spPr>
          <a:xfrm>
            <a:off x="640080" y="4800600"/>
            <a:ext cx="6400800" cy="1005840"/>
          </a:xfrm>
          <a:prstGeom prst="rect">
            <a:avLst/>
          </a:prstGeom>
          <a:noFill/>
          <a:ln/>
        </p:spPr>
        <p:txBody>
          <a:bodyPr wrap="square" lIns="0" tIns="0" rIns="0" bIns="0" rtlCol="0" anchor="ctr"/>
          <a:lstStyle/>
          <a:p>
            <a:pPr indent="0" marL="0">
              <a:lnSpc>
                <a:spcPts val="1800"/>
              </a:lnSpc>
              <a:buNone/>
            </a:pPr>
            <a:r>
              <a:rPr lang="en-US" sz="1250" i="1" dirty="0">
                <a:solidFill>
                  <a:srgbClr val="5A6B78"/>
                </a:solidFill>
                <a:latin typeface="Calibri" pitchFamily="34" charset="0"/>
                <a:ea typeface="Calibri" pitchFamily="34" charset="-122"/>
                <a:cs typeface="Calibri" pitchFamily="34" charset="-120"/>
              </a:rPr>
              <a:t>Inside the 2.41 ms: 0.33 ms building one CatBoost Pool shared by both models, 0.97 ms in the classifier, 0.79 ms in the payout model, 0.05 ms for features, broadcast and ranking together. Stage medians, so they do not sum exactly. Production model — 81k rows, a 70 MB classifier.</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84048" cy="384048"/>
          </a:xfrm>
          <a:prstGeom prst="ellipse">
            <a:avLst/>
          </a:prstGeom>
          <a:solidFill>
            <a:srgbClr val="1C7293"/>
          </a:solidFill>
          <a:ln/>
        </p:spPr>
      </p:sp>
      <p:sp>
        <p:nvSpPr>
          <p:cNvPr id="3" name="Text 1"/>
          <p:cNvSpPr txBox="1"/>
          <p:nvPr/>
        </p:nvSpPr>
        <p:spPr>
          <a:xfrm>
            <a:off x="640080" y="420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 name="Text 2"/>
          <p:cNvSpPr txBox="1"/>
          <p:nvPr/>
        </p:nvSpPr>
        <p:spPr>
          <a:xfrm>
            <a:off x="1207008" y="365760"/>
            <a:ext cx="10314432" cy="512064"/>
          </a:xfrm>
          <a:prstGeom prst="rect">
            <a:avLst/>
          </a:prstGeom>
          <a:noFill/>
          <a:ln/>
        </p:spPr>
        <p:txBody>
          <a:bodyPr wrap="square" lIns="0" tIns="0" rIns="0" bIns="0" rtlCol="0" anchor="ctr"/>
          <a:lstStyle/>
          <a:p>
            <a:pPr indent="0" marL="0">
              <a:buNone/>
            </a:pPr>
            <a:r>
              <a:rPr lang="en-US" sz="3000" b="1" dirty="0">
                <a:solidFill>
                  <a:srgbClr val="0F2A3F"/>
                </a:solidFill>
                <a:latin typeface="Cambria" pitchFamily="34" charset="0"/>
                <a:ea typeface="Cambria" pitchFamily="34" charset="-122"/>
                <a:cs typeface="Cambria" pitchFamily="34" charset="-120"/>
              </a:rPr>
              <a:t>Dilemma 2 — TabPFN on a synchronous path</a:t>
            </a:r>
            <a:endParaRPr lang="en-US" sz="3000" dirty="0"/>
          </a:p>
        </p:txBody>
      </p:sp>
      <p:sp>
        <p:nvSpPr>
          <p:cNvPr id="5" name="Text 3"/>
          <p:cNvSpPr txBox="1"/>
          <p:nvPr/>
        </p:nvSpPr>
        <p:spPr>
          <a:xfrm>
            <a:off x="1207008" y="896112"/>
            <a:ext cx="10314432" cy="310896"/>
          </a:xfrm>
          <a:prstGeom prst="rect">
            <a:avLst/>
          </a:prstGeom>
          <a:noFill/>
          <a:ln/>
        </p:spPr>
        <p:txBody>
          <a:bodyPr wrap="square" lIns="0" tIns="0" rIns="0" bIns="0" rtlCol="0" anchor="ctr"/>
          <a:lstStyle/>
          <a:p>
            <a:pPr indent="0" marL="0">
              <a:buNone/>
            </a:pPr>
            <a:r>
              <a:rPr lang="en-US" sz="1400" i="1" dirty="0">
                <a:solidFill>
                  <a:srgbClr val="5A6B78"/>
                </a:solidFill>
                <a:latin typeface="Calibri" pitchFamily="34" charset="0"/>
                <a:ea typeface="Calibri" pitchFamily="34" charset="-122"/>
                <a:cs typeface="Calibri" pitchFamily="34" charset="-120"/>
              </a:rPr>
              <a:t>The assignment's real question, and the answer is uncomfortable.</a:t>
            </a:r>
            <a:endParaRPr lang="en-US" sz="1400" dirty="0"/>
          </a:p>
        </p:txBody>
      </p:sp>
      <p:sp>
        <p:nvSpPr>
          <p:cNvPr id="6" name="Shape 4"/>
          <p:cNvSpPr/>
          <p:nvPr/>
        </p:nvSpPr>
        <p:spPr>
          <a:xfrm>
            <a:off x="640080" y="1572768"/>
            <a:ext cx="10881360" cy="1234440"/>
          </a:xfrm>
          <a:prstGeom prst="roundRect">
            <a:avLst>
              <a:gd name="adj" fmla="val 4444"/>
            </a:avLst>
          </a:prstGeom>
          <a:solidFill>
            <a:srgbClr val="F4F7F9"/>
          </a:solidFill>
          <a:ln w="12700">
            <a:solidFill>
              <a:srgbClr val="F4F7F9"/>
            </a:solidFill>
            <a:prstDash val="solid"/>
          </a:ln>
        </p:spPr>
      </p:sp>
      <p:sp>
        <p:nvSpPr>
          <p:cNvPr id="7" name="Text 5"/>
          <p:cNvSpPr txBox="1"/>
          <p:nvPr/>
        </p:nvSpPr>
        <p:spPr>
          <a:xfrm>
            <a:off x="896112" y="1737360"/>
            <a:ext cx="10369296" cy="914400"/>
          </a:xfrm>
          <a:prstGeom prst="rect">
            <a:avLst/>
          </a:prstGeom>
          <a:noFill/>
          <a:ln/>
        </p:spPr>
        <p:txBody>
          <a:bodyPr wrap="square" lIns="0" tIns="0" rIns="0" bIns="0" rtlCol="0" anchor="ctr"/>
          <a:lstStyle/>
          <a:p>
            <a:pPr indent="0" marL="0">
              <a:lnSpc>
                <a:spcPts val="2000"/>
              </a:lnSpc>
              <a:buNone/>
            </a:pPr>
            <a:r>
              <a:rPr lang="en-US" sz="1350" b="1" dirty="0">
                <a:solidFill>
                  <a:srgbClr val="1C7293"/>
                </a:solidFill>
                <a:latin typeface="Calibri" pitchFamily="34" charset="0"/>
                <a:ea typeface="Calibri" pitchFamily="34" charset="-122"/>
                <a:cs typeface="Calibri" pitchFamily="34" charset="-120"/>
              </a:rPr>
              <a:t>fit() is not training. </a:t>
            </a:r>
            <a:pPr indent="0" marL="0">
              <a:lnSpc>
                <a:spcPts val="2000"/>
              </a:lnSpc>
              <a:buNone/>
            </a:pPr>
            <a:r>
              <a:rPr lang="en-US" sz="1350" dirty="0">
                <a:solidFill>
                  <a:srgbClr val="2B3A44"/>
                </a:solidFill>
                <a:latin typeface="Calibri" pitchFamily="34" charset="0"/>
                <a:ea typeface="Calibri" pitchFamily="34" charset="-122"/>
                <a:cs typeface="Calibri" pitchFamily="34" charset="-120"/>
              </a:rPr>
              <a:t>TabPFN learns in context, so fit() just hands the model its 1000 rows. The research code calls it inside predict_(), which runs </a:t>
            </a:r>
            <a:pPr indent="0" marL="0">
              <a:lnSpc>
                <a:spcPts val="2000"/>
              </a:lnSpc>
              <a:buNone/>
            </a:pPr>
            <a:r>
              <a:rPr lang="en-US" sz="1350" b="1" dirty="0">
                <a:solidFill>
                  <a:srgbClr val="2B3A44"/>
                </a:solidFill>
                <a:latin typeface="Calibri" pitchFamily="34" charset="0"/>
                <a:ea typeface="Calibri" pitchFamily="34" charset="-122"/>
                <a:cs typeface="Calibri" pitchFamily="34" charset="-120"/>
              </a:rPr>
              <a:t>on every request</a:t>
            </a:r>
            <a:pPr indent="0" marL="0">
              <a:lnSpc>
                <a:spcPts val="2000"/>
              </a:lnSpc>
              <a:buNone/>
            </a:pPr>
            <a:r>
              <a:rPr lang="en-US" sz="1350" dirty="0">
                <a:solidFill>
                  <a:srgbClr val="2B3A44"/>
                </a:solidFill>
                <a:latin typeface="Calibri" pitchFamily="34" charset="0"/>
                <a:ea typeface="Calibri" pitchFamily="34" charset="-122"/>
                <a:cs typeface="Calibri" pitchFamily="34" charset="-120"/>
              </a:rPr>
              <a:t> — serialise the context, upload it, post a fit, then a second round trip to predict. Per user, while the page is loading.</a:t>
            </a:r>
            <a:endParaRPr lang="en-US" sz="1350" dirty="0"/>
          </a:p>
        </p:txBody>
      </p:sp>
      <p:sp>
        <p:nvSpPr>
          <p:cNvPr id="8" name="Text 6"/>
          <p:cNvSpPr txBox="1"/>
          <p:nvPr/>
        </p:nvSpPr>
        <p:spPr>
          <a:xfrm>
            <a:off x="640080" y="2971800"/>
            <a:ext cx="10881360" cy="329184"/>
          </a:xfrm>
          <a:prstGeom prst="rect">
            <a:avLst/>
          </a:prstGeom>
          <a:noFill/>
          <a:ln/>
        </p:spPr>
        <p:txBody>
          <a:bodyPr wrap="square" lIns="0" tIns="0" rIns="0" bIns="0" rtlCol="0" anchor="ctr"/>
          <a:lstStyle/>
          <a:p>
            <a:pPr indent="0" marL="0">
              <a:buNone/>
            </a:pPr>
            <a:r>
              <a:rPr lang="en-US" sz="1700" b="1" dirty="0">
                <a:solidFill>
                  <a:srgbClr val="0F2A3F"/>
                </a:solidFill>
                <a:latin typeface="Cambria" pitchFamily="34" charset="0"/>
                <a:ea typeface="Cambria" pitchFamily="34" charset="-122"/>
                <a:cs typeface="Cambria" pitchFamily="34" charset="-120"/>
              </a:rPr>
              <a:t>The observation everything follows from: that context is frozen between weekly retrains.</a:t>
            </a:r>
            <a:endParaRPr lang="en-US" sz="1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3429000"/>
          <a:ext cx="10881360" cy="914400"/>
        </p:xfrm>
        <a:graphic>
          <a:graphicData uri="http://schemas.openxmlformats.org/drawingml/2006/table">
            <a:tbl>
              <a:tblPr/>
              <a:tblGrid>
                <a:gridCol w="5029200"/>
                <a:gridCol w="1828800"/>
                <a:gridCol w="2011680"/>
                <a:gridCol w="201168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TabPFN configuration</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F2A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start-up</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F2A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payout predict</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F2A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max difference</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F2A3F"/>
                    </a:solidFill>
                  </a:tcPr>
                </a:tc>
              </a:tr>
              <a:tr h="384048">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local, low_memory</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0.2 s</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37.3 s</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$4.03</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r>
              <a:tr h="384048">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local, fit_preprocessors (library default)</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0.4 s</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8.69 s</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reference</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r>
              <a:tr h="384048">
                <a:tc>
                  <a:txBody>
                    <a:bodyPr/>
                    <a:lstStyle/>
                    <a:p>
                      <a:pPr indent="0" marL="0">
                        <a:buNone/>
                      </a:pPr>
                      <a:r>
                        <a:rPr lang="en-US" sz="1250" b="1" dirty="0">
                          <a:solidFill>
                            <a:srgbClr val="2B3A44"/>
                          </a:solidFill>
                          <a:latin typeface="Calibri" pitchFamily="34" charset="0"/>
                          <a:ea typeface="Calibri" pitchFamily="34" charset="-122"/>
                          <a:cs typeface="Calibri" pitchFamily="34" charset="-120"/>
                        </a:rPr>
                        <a:t>local, fit_with_cache</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b="1" dirty="0">
                          <a:solidFill>
                            <a:srgbClr val="2B3A44"/>
                          </a:solidFill>
                          <a:latin typeface="Calibri" pitchFamily="34" charset="0"/>
                          <a:ea typeface="Calibri" pitchFamily="34" charset="-122"/>
                          <a:cs typeface="Calibri" pitchFamily="34" charset="-120"/>
                        </a:rPr>
                        <a:t>14.9 s</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b="1" dirty="0">
                          <a:solidFill>
                            <a:srgbClr val="1C7293"/>
                          </a:solidFill>
                          <a:latin typeface="Calibri" pitchFamily="34" charset="0"/>
                          <a:ea typeface="Calibri" pitchFamily="34" charset="-122"/>
                          <a:cs typeface="Calibri" pitchFamily="34" charset="-120"/>
                        </a:rPr>
                        <a:t>0.26 s</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b="1" dirty="0">
                          <a:solidFill>
                            <a:srgbClr val="1C7293"/>
                          </a:solidFill>
                          <a:latin typeface="Calibri" pitchFamily="34" charset="0"/>
                          <a:ea typeface="Calibri" pitchFamily="34" charset="-122"/>
                          <a:cs typeface="Calibri" pitchFamily="34" charset="-120"/>
                        </a:rPr>
                        <a:t>$0.000045</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r>
              <a:tr h="384048">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hosted client, fit reused from the weekly job</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one round trip</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exact</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r>
            </a:tbl>
          </a:graphicData>
        </a:graphic>
      </p:graphicFrame>
      <p:sp>
        <p:nvSpPr>
          <p:cNvPr id="10" name="Text 7"/>
          <p:cNvSpPr txBox="1"/>
          <p:nvPr/>
        </p:nvSpPr>
        <p:spPr>
          <a:xfrm>
            <a:off x="640080" y="5486400"/>
            <a:ext cx="10881360" cy="731520"/>
          </a:xfrm>
          <a:prstGeom prst="rect">
            <a:avLst/>
          </a:prstGeom>
          <a:noFill/>
          <a:ln/>
        </p:spPr>
        <p:txBody>
          <a:bodyPr wrap="square" lIns="0" tIns="0" rIns="0" bIns="0" rtlCol="0" anchor="ctr"/>
          <a:lstStyle/>
          <a:p>
            <a:pPr indent="0" marL="0">
              <a:lnSpc>
                <a:spcPts val="1900"/>
              </a:lnSpc>
              <a:buNone/>
            </a:pPr>
            <a:r>
              <a:rPr lang="en-US" sz="1300" dirty="0">
                <a:solidFill>
                  <a:srgbClr val="2B3A44"/>
                </a:solidFill>
                <a:latin typeface="Calibri" pitchFamily="34" charset="0"/>
                <a:ea typeface="Calibri" pitchFamily="34" charset="-122"/>
                <a:cs typeface="Calibri" pitchFamily="34" charset="-120"/>
              </a:rPr>
              <a:t>fit_with_cache is 33× faster than the library default for a relative difference around 1e-6 — the single biggest exact-preserving win available, and the one the research code leaves on the table. </a:t>
            </a:r>
            <a:pPr indent="0" marL="0">
              <a:lnSpc>
                <a:spcPts val="1900"/>
              </a:lnSpc>
              <a:buNone/>
            </a:pPr>
            <a:r>
              <a:rPr lang="en-US" sz="1300" b="1" dirty="0">
                <a:solidFill>
                  <a:srgbClr val="0F2A3F"/>
                </a:solidFill>
                <a:latin typeface="Calibri" pitchFamily="34" charset="0"/>
                <a:ea typeface="Calibri" pitchFamily="34" charset="-122"/>
                <a:cs typeface="Calibri" pitchFamily="34" charset="-120"/>
              </a:rPr>
              <a:t>It does not rescue the request path: at the shipped n_estimators = 4, a whole request is 457 ms.</a:t>
            </a:r>
            <a:pPr indent="0" marL="0">
              <a:lnSpc>
                <a:spcPts val="1900"/>
              </a:lnSpc>
              <a:buNone/>
            </a:pPr>
            <a:r>
              <a:rPr lang="en-US" sz="1300" dirty="0">
                <a:solidFill>
                  <a:srgbClr val="2B3A44"/>
                </a:solidFill>
                <a:latin typeface="Calibri" pitchFamily="34" charset="0"/>
                <a:ea typeface="Calibri" pitchFamily="34" charset="-122"/>
                <a:cs typeface="Calibri" pitchFamily="34" charset="-120"/>
              </a:rPr>
              <a:t> The three fit-mode rows hold n_estimators = 2, so the mode is the only thing varying.</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84048" cy="384048"/>
          </a:xfrm>
          <a:prstGeom prst="ellipse">
            <a:avLst/>
          </a:prstGeom>
          <a:solidFill>
            <a:srgbClr val="1C7293"/>
          </a:solidFill>
          <a:ln/>
        </p:spPr>
      </p:sp>
      <p:sp>
        <p:nvSpPr>
          <p:cNvPr id="3" name="Text 1"/>
          <p:cNvSpPr txBox="1"/>
          <p:nvPr/>
        </p:nvSpPr>
        <p:spPr>
          <a:xfrm>
            <a:off x="640080" y="420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4" name="Text 2"/>
          <p:cNvSpPr txBox="1"/>
          <p:nvPr/>
        </p:nvSpPr>
        <p:spPr>
          <a:xfrm>
            <a:off x="1207008" y="365760"/>
            <a:ext cx="10314432" cy="512064"/>
          </a:xfrm>
          <a:prstGeom prst="rect">
            <a:avLst/>
          </a:prstGeom>
          <a:noFill/>
          <a:ln/>
        </p:spPr>
        <p:txBody>
          <a:bodyPr wrap="square" lIns="0" tIns="0" rIns="0" bIns="0" rtlCol="0" anchor="ctr"/>
          <a:lstStyle/>
          <a:p>
            <a:pPr indent="0" marL="0">
              <a:buNone/>
            </a:pPr>
            <a:r>
              <a:rPr lang="en-US" sz="3000" b="1" dirty="0">
                <a:solidFill>
                  <a:srgbClr val="0F2A3F"/>
                </a:solidFill>
                <a:latin typeface="Cambria" pitchFamily="34" charset="0"/>
                <a:ea typeface="Cambria" pitchFamily="34" charset="-122"/>
                <a:cs typeface="Cambria" pitchFamily="34" charset="-120"/>
              </a:rPr>
              <a:t>The decision: a ladder, not an answer</a:t>
            </a:r>
            <a:endParaRPr lang="en-US" sz="3000" dirty="0"/>
          </a:p>
        </p:txBody>
      </p:sp>
      <p:sp>
        <p:nvSpPr>
          <p:cNvPr id="5" name="Text 3"/>
          <p:cNvSpPr txBox="1"/>
          <p:nvPr/>
        </p:nvSpPr>
        <p:spPr>
          <a:xfrm>
            <a:off x="1207008" y="896112"/>
            <a:ext cx="10314432" cy="310896"/>
          </a:xfrm>
          <a:prstGeom prst="rect">
            <a:avLst/>
          </a:prstGeom>
          <a:noFill/>
          <a:ln/>
        </p:spPr>
        <p:txBody>
          <a:bodyPr wrap="square" lIns="0" tIns="0" rIns="0" bIns="0" rtlCol="0" anchor="ctr"/>
          <a:lstStyle/>
          <a:p>
            <a:pPr indent="0" marL="0">
              <a:buNone/>
            </a:pPr>
            <a:r>
              <a:rPr lang="en-US" sz="1400" i="1" dirty="0">
                <a:solidFill>
                  <a:srgbClr val="5A6B78"/>
                </a:solidFill>
                <a:latin typeface="Calibri" pitchFamily="34" charset="0"/>
                <a:ea typeface="Calibri" pitchFamily="34" charset="-122"/>
                <a:cs typeface="Calibri" pitchFamily="34" charset="-120"/>
              </a:rPr>
              <a:t>Different deployments have different budgets. One environment variable switches.</a:t>
            </a:r>
            <a:endParaRPr lang="en-US" sz="1400" dirty="0"/>
          </a:p>
        </p:txBody>
      </p:sp>
      <p:sp>
        <p:nvSpPr>
          <p:cNvPr id="6" name="Shape 4"/>
          <p:cNvSpPr/>
          <p:nvPr/>
        </p:nvSpPr>
        <p:spPr>
          <a:xfrm>
            <a:off x="640080" y="1572768"/>
            <a:ext cx="10881360" cy="932688"/>
          </a:xfrm>
          <a:prstGeom prst="roundRect">
            <a:avLst>
              <a:gd name="adj" fmla="val 4902"/>
            </a:avLst>
          </a:prstGeom>
          <a:solidFill>
            <a:srgbClr val="E8F2F6"/>
          </a:solidFill>
          <a:ln w="12700">
            <a:solidFill>
              <a:srgbClr val="1C7293"/>
            </a:solidFill>
            <a:prstDash val="solid"/>
          </a:ln>
        </p:spPr>
      </p:sp>
      <p:sp>
        <p:nvSpPr>
          <p:cNvPr id="7" name="Text 5"/>
          <p:cNvSpPr txBox="1"/>
          <p:nvPr/>
        </p:nvSpPr>
        <p:spPr>
          <a:xfrm>
            <a:off x="868680" y="1691640"/>
            <a:ext cx="2286000" cy="310896"/>
          </a:xfrm>
          <a:prstGeom prst="rect">
            <a:avLst/>
          </a:prstGeom>
          <a:noFill/>
          <a:ln/>
        </p:spPr>
        <p:txBody>
          <a:bodyPr wrap="square" lIns="0" tIns="0" rIns="0" bIns="0" rtlCol="0" anchor="ctr"/>
          <a:lstStyle/>
          <a:p>
            <a:pPr indent="0" marL="0">
              <a:buNone/>
            </a:pPr>
            <a:r>
              <a:rPr lang="en-US" sz="1300" b="1" dirty="0">
                <a:solidFill>
                  <a:srgbClr val="1C7293"/>
                </a:solidFill>
                <a:latin typeface="Courier New" pitchFamily="34" charset="0"/>
                <a:ea typeface="Courier New" pitchFamily="34" charset="-122"/>
                <a:cs typeface="Courier New" pitchFamily="34" charset="-120"/>
              </a:rPr>
              <a:t>surrogate</a:t>
            </a:r>
            <a:endParaRPr lang="en-US" sz="1300" dirty="0"/>
          </a:p>
        </p:txBody>
      </p:sp>
      <p:sp>
        <p:nvSpPr>
          <p:cNvPr id="8" name="Text 6"/>
          <p:cNvSpPr txBox="1"/>
          <p:nvPr/>
        </p:nvSpPr>
        <p:spPr>
          <a:xfrm>
            <a:off x="868680" y="2048256"/>
            <a:ext cx="2286000" cy="310896"/>
          </a:xfrm>
          <a:prstGeom prst="rect">
            <a:avLst/>
          </a:prstGeom>
          <a:noFill/>
          <a:ln/>
        </p:spPr>
        <p:txBody>
          <a:bodyPr wrap="square" lIns="0" tIns="0" rIns="0" bIns="0" rtlCol="0" anchor="ctr"/>
          <a:lstStyle/>
          <a:p>
            <a:pPr indent="0" marL="0">
              <a:buNone/>
            </a:pPr>
            <a:r>
              <a:rPr lang="en-US" sz="1700" b="1" dirty="0">
                <a:solidFill>
                  <a:srgbClr val="0F2A3F"/>
                </a:solidFill>
                <a:latin typeface="Cambria" pitchFamily="34" charset="0"/>
                <a:ea typeface="Cambria" pitchFamily="34" charset="-122"/>
                <a:cs typeface="Cambria" pitchFamily="34" charset="-120"/>
              </a:rPr>
              <a:t>4.1 ms</a:t>
            </a:r>
            <a:endParaRPr lang="en-US" sz="1700" dirty="0"/>
          </a:p>
        </p:txBody>
      </p:sp>
      <p:sp>
        <p:nvSpPr>
          <p:cNvPr id="9" name="Text 7"/>
          <p:cNvSpPr txBox="1"/>
          <p:nvPr/>
        </p:nvSpPr>
        <p:spPr>
          <a:xfrm>
            <a:off x="3246120" y="1847088"/>
            <a:ext cx="1371600" cy="365760"/>
          </a:xfrm>
          <a:prstGeom prst="rect">
            <a:avLst/>
          </a:prstGeom>
          <a:noFill/>
          <a:ln/>
        </p:spPr>
        <p:txBody>
          <a:bodyPr wrap="square" lIns="0" tIns="0" rIns="0" bIns="0" rtlCol="0" anchor="ctr"/>
          <a:lstStyle/>
          <a:p>
            <a:pPr indent="0" marL="0">
              <a:buNone/>
            </a:pPr>
            <a:r>
              <a:rPr lang="en-US" sz="1150" i="1" dirty="0">
                <a:solidFill>
                  <a:srgbClr val="5A6B78"/>
                </a:solidFill>
                <a:latin typeface="Calibri" pitchFamily="34" charset="0"/>
                <a:ea typeface="Calibri" pitchFamily="34" charset="-122"/>
                <a:cs typeface="Calibri" pitchFamily="34" charset="-120"/>
              </a:rPr>
              <a:t>approximate</a:t>
            </a:r>
            <a:endParaRPr lang="en-US" sz="1150" dirty="0"/>
          </a:p>
        </p:txBody>
      </p:sp>
      <p:sp>
        <p:nvSpPr>
          <p:cNvPr id="10" name="Text 8"/>
          <p:cNvSpPr txBox="1"/>
          <p:nvPr/>
        </p:nvSpPr>
        <p:spPr>
          <a:xfrm>
            <a:off x="4754880" y="1728216"/>
            <a:ext cx="6492240" cy="685800"/>
          </a:xfrm>
          <a:prstGeom prst="rect">
            <a:avLst/>
          </a:prstGeom>
          <a:noFill/>
          <a:ln/>
        </p:spPr>
        <p:txBody>
          <a:bodyPr wrap="square" lIns="0" tIns="0" rIns="0" bIns="0" rtlCol="0" anchor="ctr"/>
          <a:lstStyle/>
          <a:p>
            <a:pPr indent="0" marL="0">
              <a:lnSpc>
                <a:spcPts val="1700"/>
              </a:lnSpc>
              <a:buNone/>
            </a:pPr>
            <a:r>
              <a:rPr lang="en-US" sz="1250" dirty="0">
                <a:solidFill>
                  <a:srgbClr val="2B3A44"/>
                </a:solidFill>
                <a:latin typeface="Calibri" pitchFamily="34" charset="0"/>
                <a:ea typeface="Calibri" pitchFamily="34" charset="-122"/>
                <a:cs typeface="Calibri" pitchFamily="34" charset="-120"/>
              </a:rPr>
              <a:t>DEFAULT. CatBoost student distilled from TabPFN's own predictions at training time. The only option inside a page-load budget on CPU.</a:t>
            </a:r>
            <a:endParaRPr lang="en-US" sz="1250" dirty="0"/>
          </a:p>
        </p:txBody>
      </p:sp>
      <p:sp>
        <p:nvSpPr>
          <p:cNvPr id="11" name="Shape 9"/>
          <p:cNvSpPr/>
          <p:nvPr/>
        </p:nvSpPr>
        <p:spPr>
          <a:xfrm>
            <a:off x="640080" y="2651760"/>
            <a:ext cx="10881360" cy="932688"/>
          </a:xfrm>
          <a:prstGeom prst="roundRect">
            <a:avLst>
              <a:gd name="adj" fmla="val 4902"/>
            </a:avLst>
          </a:prstGeom>
          <a:solidFill>
            <a:srgbClr val="F4F7F9"/>
          </a:solidFill>
          <a:ln w="12700">
            <a:solidFill>
              <a:srgbClr val="F4F7F9"/>
            </a:solidFill>
            <a:prstDash val="solid"/>
          </a:ln>
        </p:spPr>
      </p:sp>
      <p:sp>
        <p:nvSpPr>
          <p:cNvPr id="12" name="Text 10"/>
          <p:cNvSpPr txBox="1"/>
          <p:nvPr/>
        </p:nvSpPr>
        <p:spPr>
          <a:xfrm>
            <a:off x="868680" y="2770632"/>
            <a:ext cx="2286000" cy="310896"/>
          </a:xfrm>
          <a:prstGeom prst="rect">
            <a:avLst/>
          </a:prstGeom>
          <a:noFill/>
          <a:ln/>
        </p:spPr>
        <p:txBody>
          <a:bodyPr wrap="square" lIns="0" tIns="0" rIns="0" bIns="0" rtlCol="0" anchor="ctr"/>
          <a:lstStyle/>
          <a:p>
            <a:pPr indent="0" marL="0">
              <a:buNone/>
            </a:pPr>
            <a:r>
              <a:rPr lang="en-US" sz="1300" b="1" dirty="0">
                <a:solidFill>
                  <a:srgbClr val="0F2A3F"/>
                </a:solidFill>
                <a:latin typeface="Courier New" pitchFamily="34" charset="0"/>
                <a:ea typeface="Courier New" pitchFamily="34" charset="-122"/>
                <a:cs typeface="Courier New" pitchFamily="34" charset="-120"/>
              </a:rPr>
              <a:t>tabpfn_client</a:t>
            </a:r>
            <a:endParaRPr lang="en-US" sz="1300" dirty="0"/>
          </a:p>
        </p:txBody>
      </p:sp>
      <p:sp>
        <p:nvSpPr>
          <p:cNvPr id="13" name="Text 11"/>
          <p:cNvSpPr txBox="1"/>
          <p:nvPr/>
        </p:nvSpPr>
        <p:spPr>
          <a:xfrm>
            <a:off x="868680" y="3127248"/>
            <a:ext cx="2286000" cy="310896"/>
          </a:xfrm>
          <a:prstGeom prst="rect">
            <a:avLst/>
          </a:prstGeom>
          <a:noFill/>
          <a:ln/>
        </p:spPr>
        <p:txBody>
          <a:bodyPr wrap="square" lIns="0" tIns="0" rIns="0" bIns="0" rtlCol="0" anchor="ctr"/>
          <a:lstStyle/>
          <a:p>
            <a:pPr indent="0" marL="0">
              <a:buNone/>
            </a:pPr>
            <a:r>
              <a:rPr lang="en-US" sz="1700" b="1" dirty="0">
                <a:solidFill>
                  <a:srgbClr val="0F2A3F"/>
                </a:solidFill>
                <a:latin typeface="Cambria" pitchFamily="34" charset="0"/>
                <a:ea typeface="Cambria" pitchFamily="34" charset="-122"/>
                <a:cs typeface="Cambria" pitchFamily="34" charset="-120"/>
              </a:rPr>
              <a:t>1 round trip</a:t>
            </a:r>
            <a:endParaRPr lang="en-US" sz="1700" dirty="0"/>
          </a:p>
        </p:txBody>
      </p:sp>
      <p:sp>
        <p:nvSpPr>
          <p:cNvPr id="14" name="Text 12"/>
          <p:cNvSpPr txBox="1"/>
          <p:nvPr/>
        </p:nvSpPr>
        <p:spPr>
          <a:xfrm>
            <a:off x="3246120" y="2926080"/>
            <a:ext cx="1371600" cy="365760"/>
          </a:xfrm>
          <a:prstGeom prst="rect">
            <a:avLst/>
          </a:prstGeom>
          <a:noFill/>
          <a:ln/>
        </p:spPr>
        <p:txBody>
          <a:bodyPr wrap="square" lIns="0" tIns="0" rIns="0" bIns="0" rtlCol="0" anchor="ctr"/>
          <a:lstStyle/>
          <a:p>
            <a:pPr indent="0" marL="0">
              <a:buNone/>
            </a:pPr>
            <a:r>
              <a:rPr lang="en-US" sz="1150" i="1" dirty="0">
                <a:solidFill>
                  <a:srgbClr val="5A6B78"/>
                </a:solidFill>
                <a:latin typeface="Calibri" pitchFamily="34" charset="0"/>
                <a:ea typeface="Calibri" pitchFamily="34" charset="-122"/>
                <a:cs typeface="Calibri" pitchFamily="34" charset="-120"/>
              </a:rPr>
              <a:t>exact</a:t>
            </a:r>
            <a:endParaRPr lang="en-US" sz="1150" dirty="0"/>
          </a:p>
        </p:txBody>
      </p:sp>
      <p:sp>
        <p:nvSpPr>
          <p:cNvPr id="15" name="Text 13"/>
          <p:cNvSpPr txBox="1"/>
          <p:nvPr/>
        </p:nvSpPr>
        <p:spPr>
          <a:xfrm>
            <a:off x="4754880" y="2807208"/>
            <a:ext cx="6492240" cy="685800"/>
          </a:xfrm>
          <a:prstGeom prst="rect">
            <a:avLst/>
          </a:prstGeom>
          <a:noFill/>
          <a:ln/>
        </p:spPr>
        <p:txBody>
          <a:bodyPr wrap="square" lIns="0" tIns="0" rIns="0" bIns="0" rtlCol="0" anchor="ctr"/>
          <a:lstStyle/>
          <a:p>
            <a:pPr indent="0" marL="0">
              <a:lnSpc>
                <a:spcPts val="1700"/>
              </a:lnSpc>
              <a:buNone/>
            </a:pPr>
            <a:r>
              <a:rPr lang="en-US" sz="1250" dirty="0">
                <a:solidFill>
                  <a:srgbClr val="2B3A44"/>
                </a:solidFill>
                <a:latin typeface="Calibri" pitchFamily="34" charset="0"/>
                <a:ea typeface="Calibri" pitchFamily="34" charset="-122"/>
                <a:cs typeface="Calibri" pitchFamily="34" charset="-120"/>
              </a:rPr>
              <a:t>The research code's own model, with fit() lifted out of the request path by reusing the server-side fitted set.</a:t>
            </a:r>
            <a:endParaRPr lang="en-US" sz="1250" dirty="0"/>
          </a:p>
        </p:txBody>
      </p:sp>
      <p:sp>
        <p:nvSpPr>
          <p:cNvPr id="16" name="Shape 14"/>
          <p:cNvSpPr/>
          <p:nvPr/>
        </p:nvSpPr>
        <p:spPr>
          <a:xfrm>
            <a:off x="640080" y="3730752"/>
            <a:ext cx="10881360" cy="932688"/>
          </a:xfrm>
          <a:prstGeom prst="roundRect">
            <a:avLst>
              <a:gd name="adj" fmla="val 4902"/>
            </a:avLst>
          </a:prstGeom>
          <a:solidFill>
            <a:srgbClr val="F4F7F9"/>
          </a:solidFill>
          <a:ln w="12700">
            <a:solidFill>
              <a:srgbClr val="F4F7F9"/>
            </a:solidFill>
            <a:prstDash val="solid"/>
          </a:ln>
        </p:spPr>
      </p:sp>
      <p:sp>
        <p:nvSpPr>
          <p:cNvPr id="17" name="Text 15"/>
          <p:cNvSpPr txBox="1"/>
          <p:nvPr/>
        </p:nvSpPr>
        <p:spPr>
          <a:xfrm>
            <a:off x="868680" y="3849624"/>
            <a:ext cx="2286000" cy="310896"/>
          </a:xfrm>
          <a:prstGeom prst="rect">
            <a:avLst/>
          </a:prstGeom>
          <a:noFill/>
          <a:ln/>
        </p:spPr>
        <p:txBody>
          <a:bodyPr wrap="square" lIns="0" tIns="0" rIns="0" bIns="0" rtlCol="0" anchor="ctr"/>
          <a:lstStyle/>
          <a:p>
            <a:pPr indent="0" marL="0">
              <a:buNone/>
            </a:pPr>
            <a:r>
              <a:rPr lang="en-US" sz="1300" b="1" dirty="0">
                <a:solidFill>
                  <a:srgbClr val="0F2A3F"/>
                </a:solidFill>
                <a:latin typeface="Courier New" pitchFamily="34" charset="0"/>
                <a:ea typeface="Courier New" pitchFamily="34" charset="-122"/>
                <a:cs typeface="Courier New" pitchFamily="34" charset="-120"/>
              </a:rPr>
              <a:t>tabpfn_local</a:t>
            </a:r>
            <a:endParaRPr lang="en-US" sz="1300" dirty="0"/>
          </a:p>
        </p:txBody>
      </p:sp>
      <p:sp>
        <p:nvSpPr>
          <p:cNvPr id="18" name="Text 16"/>
          <p:cNvSpPr txBox="1"/>
          <p:nvPr/>
        </p:nvSpPr>
        <p:spPr>
          <a:xfrm>
            <a:off x="868680" y="4206240"/>
            <a:ext cx="2286000" cy="310896"/>
          </a:xfrm>
          <a:prstGeom prst="rect">
            <a:avLst/>
          </a:prstGeom>
          <a:noFill/>
          <a:ln/>
        </p:spPr>
        <p:txBody>
          <a:bodyPr wrap="square" lIns="0" tIns="0" rIns="0" bIns="0" rtlCol="0" anchor="ctr"/>
          <a:lstStyle/>
          <a:p>
            <a:pPr indent="0" marL="0">
              <a:buNone/>
            </a:pPr>
            <a:r>
              <a:rPr lang="en-US" sz="1700" b="1" dirty="0">
                <a:solidFill>
                  <a:srgbClr val="0F2A3F"/>
                </a:solidFill>
                <a:latin typeface="Cambria" pitchFamily="34" charset="0"/>
                <a:ea typeface="Cambria" pitchFamily="34" charset="-122"/>
                <a:cs typeface="Cambria" pitchFamily="34" charset="-120"/>
              </a:rPr>
              <a:t>457 ms</a:t>
            </a:r>
            <a:endParaRPr lang="en-US" sz="1700" dirty="0"/>
          </a:p>
        </p:txBody>
      </p:sp>
      <p:sp>
        <p:nvSpPr>
          <p:cNvPr id="19" name="Text 17"/>
          <p:cNvSpPr txBox="1"/>
          <p:nvPr/>
        </p:nvSpPr>
        <p:spPr>
          <a:xfrm>
            <a:off x="3246120" y="4005072"/>
            <a:ext cx="1371600" cy="365760"/>
          </a:xfrm>
          <a:prstGeom prst="rect">
            <a:avLst/>
          </a:prstGeom>
          <a:noFill/>
          <a:ln/>
        </p:spPr>
        <p:txBody>
          <a:bodyPr wrap="square" lIns="0" tIns="0" rIns="0" bIns="0" rtlCol="0" anchor="ctr"/>
          <a:lstStyle/>
          <a:p>
            <a:pPr indent="0" marL="0">
              <a:buNone/>
            </a:pPr>
            <a:r>
              <a:rPr lang="en-US" sz="1150" i="1" dirty="0">
                <a:solidFill>
                  <a:srgbClr val="5A6B78"/>
                </a:solidFill>
                <a:latin typeface="Calibri" pitchFamily="34" charset="0"/>
                <a:ea typeface="Calibri" pitchFamily="34" charset="-122"/>
                <a:cs typeface="Calibri" pitchFamily="34" charset="-120"/>
              </a:rPr>
              <a:t>exact</a:t>
            </a:r>
            <a:endParaRPr lang="en-US" sz="1150" dirty="0"/>
          </a:p>
        </p:txBody>
      </p:sp>
      <p:sp>
        <p:nvSpPr>
          <p:cNvPr id="20" name="Text 18"/>
          <p:cNvSpPr txBox="1"/>
          <p:nvPr/>
        </p:nvSpPr>
        <p:spPr>
          <a:xfrm>
            <a:off x="4754880" y="3886200"/>
            <a:ext cx="6492240" cy="685800"/>
          </a:xfrm>
          <a:prstGeom prst="rect">
            <a:avLst/>
          </a:prstGeom>
          <a:noFill/>
          <a:ln/>
        </p:spPr>
        <p:txBody>
          <a:bodyPr wrap="square" lIns="0" tIns="0" rIns="0" bIns="0" rtlCol="0" anchor="ctr"/>
          <a:lstStyle/>
          <a:p>
            <a:pPr indent="0" marL="0">
              <a:lnSpc>
                <a:spcPts val="1700"/>
              </a:lnSpc>
              <a:buNone/>
            </a:pPr>
            <a:r>
              <a:rPr lang="en-US" sz="1250" dirty="0">
                <a:solidFill>
                  <a:srgbClr val="2B3A44"/>
                </a:solidFill>
                <a:latin typeface="Calibri" pitchFamily="34" charset="0"/>
                <a:ea typeface="Calibri" pitchFamily="34" charset="-122"/>
                <a:cs typeface="Calibri" pitchFamily="34" charset="-120"/>
              </a:rPr>
              <a:t>Weights in-process, no network, private. Right for batch scoring, for teaching the surrogate, or on a GPU.</a:t>
            </a:r>
            <a:endParaRPr lang="en-US" sz="1250" dirty="0"/>
          </a:p>
        </p:txBody>
      </p:sp>
      <p:sp>
        <p:nvSpPr>
          <p:cNvPr id="21" name="Shape 19"/>
          <p:cNvSpPr/>
          <p:nvPr/>
        </p:nvSpPr>
        <p:spPr>
          <a:xfrm>
            <a:off x="640080" y="4809744"/>
            <a:ext cx="10881360" cy="932688"/>
          </a:xfrm>
          <a:prstGeom prst="roundRect">
            <a:avLst>
              <a:gd name="adj" fmla="val 4902"/>
            </a:avLst>
          </a:prstGeom>
          <a:solidFill>
            <a:srgbClr val="F4F7F9"/>
          </a:solidFill>
          <a:ln w="12700">
            <a:solidFill>
              <a:srgbClr val="F4F7F9"/>
            </a:solidFill>
            <a:prstDash val="solid"/>
          </a:ln>
        </p:spPr>
      </p:sp>
      <p:sp>
        <p:nvSpPr>
          <p:cNvPr id="22" name="Text 20"/>
          <p:cNvSpPr txBox="1"/>
          <p:nvPr/>
        </p:nvSpPr>
        <p:spPr>
          <a:xfrm>
            <a:off x="868680" y="4928616"/>
            <a:ext cx="2286000" cy="310896"/>
          </a:xfrm>
          <a:prstGeom prst="rect">
            <a:avLst/>
          </a:prstGeom>
          <a:noFill/>
          <a:ln/>
        </p:spPr>
        <p:txBody>
          <a:bodyPr wrap="square" lIns="0" tIns="0" rIns="0" bIns="0" rtlCol="0" anchor="ctr"/>
          <a:lstStyle/>
          <a:p>
            <a:pPr indent="0" marL="0">
              <a:buNone/>
            </a:pPr>
            <a:r>
              <a:rPr lang="en-US" sz="1300" b="1" dirty="0">
                <a:solidFill>
                  <a:srgbClr val="5A6B78"/>
                </a:solidFill>
                <a:latin typeface="Courier New" pitchFamily="34" charset="0"/>
                <a:ea typeface="Courier New" pitchFamily="34" charset="-122"/>
                <a:cs typeface="Courier New" pitchFamily="34" charset="-120"/>
              </a:rPr>
              <a:t>catboost_fallback</a:t>
            </a:r>
            <a:endParaRPr lang="en-US" sz="1300" dirty="0"/>
          </a:p>
        </p:txBody>
      </p:sp>
      <p:sp>
        <p:nvSpPr>
          <p:cNvPr id="23" name="Text 21"/>
          <p:cNvSpPr txBox="1"/>
          <p:nvPr/>
        </p:nvSpPr>
        <p:spPr>
          <a:xfrm>
            <a:off x="868680" y="5285232"/>
            <a:ext cx="2286000" cy="310896"/>
          </a:xfrm>
          <a:prstGeom prst="rect">
            <a:avLst/>
          </a:prstGeom>
          <a:noFill/>
          <a:ln/>
        </p:spPr>
        <p:txBody>
          <a:bodyPr wrap="square" lIns="0" tIns="0" rIns="0" bIns="0" rtlCol="0" anchor="ctr"/>
          <a:lstStyle/>
          <a:p>
            <a:pPr indent="0" marL="0">
              <a:buNone/>
            </a:pPr>
            <a:r>
              <a:rPr lang="en-US" sz="1700" b="1" dirty="0">
                <a:solidFill>
                  <a:srgbClr val="0F2A3F"/>
                </a:solidFill>
                <a:latin typeface="Cambria" pitchFamily="34" charset="0"/>
                <a:ea typeface="Cambria" pitchFamily="34" charset="-122"/>
                <a:cs typeface="Cambria" pitchFamily="34" charset="-120"/>
              </a:rPr>
              <a:t>4 ms</a:t>
            </a:r>
            <a:endParaRPr lang="en-US" sz="1700" dirty="0"/>
          </a:p>
        </p:txBody>
      </p:sp>
      <p:sp>
        <p:nvSpPr>
          <p:cNvPr id="24" name="Text 22"/>
          <p:cNvSpPr txBox="1"/>
          <p:nvPr/>
        </p:nvSpPr>
        <p:spPr>
          <a:xfrm>
            <a:off x="3246120" y="5084064"/>
            <a:ext cx="1371600" cy="365760"/>
          </a:xfrm>
          <a:prstGeom prst="rect">
            <a:avLst/>
          </a:prstGeom>
          <a:noFill/>
          <a:ln/>
        </p:spPr>
        <p:txBody>
          <a:bodyPr wrap="square" lIns="0" tIns="0" rIns="0" bIns="0" rtlCol="0" anchor="ctr"/>
          <a:lstStyle/>
          <a:p>
            <a:pPr indent="0" marL="0">
              <a:buNone/>
            </a:pPr>
            <a:r>
              <a:rPr lang="en-US" sz="1150" i="1" dirty="0">
                <a:solidFill>
                  <a:srgbClr val="5A6B78"/>
                </a:solidFill>
                <a:latin typeface="Calibri" pitchFamily="34" charset="0"/>
                <a:ea typeface="Calibri" pitchFamily="34" charset="-122"/>
                <a:cs typeface="Calibri" pitchFamily="34" charset="-120"/>
              </a:rPr>
              <a:t>approximate</a:t>
            </a:r>
            <a:endParaRPr lang="en-US" sz="1150" dirty="0"/>
          </a:p>
        </p:txBody>
      </p:sp>
      <p:sp>
        <p:nvSpPr>
          <p:cNvPr id="25" name="Text 23"/>
          <p:cNvSpPr txBox="1"/>
          <p:nvPr/>
        </p:nvSpPr>
        <p:spPr>
          <a:xfrm>
            <a:off x="4754880" y="4965192"/>
            <a:ext cx="6492240" cy="685800"/>
          </a:xfrm>
          <a:prstGeom prst="rect">
            <a:avLst/>
          </a:prstGeom>
          <a:noFill/>
          <a:ln/>
        </p:spPr>
        <p:txBody>
          <a:bodyPr wrap="square" lIns="0" tIns="0" rIns="0" bIns="0" rtlCol="0" anchor="ctr"/>
          <a:lstStyle/>
          <a:p>
            <a:pPr indent="0" marL="0">
              <a:lnSpc>
                <a:spcPts val="1700"/>
              </a:lnSpc>
              <a:buNone/>
            </a:pPr>
            <a:r>
              <a:rPr lang="en-US" sz="1250" dirty="0">
                <a:solidFill>
                  <a:srgbClr val="2B3A44"/>
                </a:solidFill>
                <a:latin typeface="Calibri" pitchFamily="34" charset="0"/>
                <a:ea typeface="Calibri" pitchFamily="34" charset="-122"/>
                <a:cs typeface="Calibri" pitchFamily="34" charset="-120"/>
              </a:rPr>
              <a:t>Availability. If TabPFN is unreachable the endpoint degrades instead of returning 503.</a:t>
            </a:r>
            <a:endParaRPr lang="en-US" sz="1250" dirty="0"/>
          </a:p>
        </p:txBody>
      </p:sp>
      <p:sp>
        <p:nvSpPr>
          <p:cNvPr id="26" name="Text 24"/>
          <p:cNvSpPr txBox="1"/>
          <p:nvPr/>
        </p:nvSpPr>
        <p:spPr>
          <a:xfrm>
            <a:off x="640080" y="5870448"/>
            <a:ext cx="10881360" cy="777240"/>
          </a:xfrm>
          <a:prstGeom prst="rect">
            <a:avLst/>
          </a:prstGeom>
          <a:noFill/>
          <a:ln/>
        </p:spPr>
        <p:txBody>
          <a:bodyPr wrap="square" lIns="0" tIns="0" rIns="0" bIns="0" rtlCol="0" anchor="ctr"/>
          <a:lstStyle/>
          <a:p>
            <a:pPr indent="0" marL="0">
              <a:lnSpc>
                <a:spcPts val="1800"/>
              </a:lnSpc>
              <a:buNone/>
            </a:pPr>
            <a:r>
              <a:rPr lang="en-US" sz="1250" b="1" dirty="0">
                <a:solidFill>
                  <a:srgbClr val="E08E45"/>
                </a:solidFill>
                <a:latin typeface="Calibri" pitchFamily="34" charset="0"/>
                <a:ea typeface="Calibri" pitchFamily="34" charset="-122"/>
                <a:cs typeface="Calibri" pitchFamily="34" charset="-120"/>
              </a:rPr>
              <a:t>End to end on 200 random users:  </a:t>
            </a:r>
            <a:pPr indent="0" marL="0">
              <a:lnSpc>
                <a:spcPts val="1800"/>
              </a:lnSpc>
              <a:buNone/>
            </a:pPr>
            <a:r>
              <a:rPr lang="en-US" sz="1250" dirty="0">
                <a:solidFill>
                  <a:srgbClr val="2B3A44"/>
                </a:solidFill>
                <a:latin typeface="Calibri" pitchFamily="34" charset="0"/>
                <a:ea typeface="Calibri" pitchFamily="34" charset="-122"/>
                <a:cs typeface="Calibri" pitchFamily="34" charset="-120"/>
              </a:rPr>
              <a:t>the student puts the same brand first </a:t>
            </a:r>
            <a:pPr indent="0" marL="0">
              <a:lnSpc>
                <a:spcPts val="1800"/>
              </a:lnSpc>
              <a:buNone/>
            </a:pPr>
            <a:r>
              <a:rPr lang="en-US" sz="1250" b="1" dirty="0">
                <a:solidFill>
                  <a:srgbClr val="0F2A3F"/>
                </a:solidFill>
                <a:latin typeface="Calibri" pitchFamily="34" charset="0"/>
                <a:ea typeface="Calibri" pitchFamily="34" charset="-122"/>
                <a:cs typeface="Calibri" pitchFamily="34" charset="-120"/>
              </a:rPr>
              <a:t>84.5%</a:t>
            </a:r>
            <a:pPr indent="0" marL="0">
              <a:lnSpc>
                <a:spcPts val="1800"/>
              </a:lnSpc>
              <a:buNone/>
            </a:pPr>
            <a:r>
              <a:rPr lang="en-US" sz="1250" dirty="0">
                <a:solidFill>
                  <a:srgbClr val="2B3A44"/>
                </a:solidFill>
                <a:latin typeface="Calibri" pitchFamily="34" charset="0"/>
                <a:ea typeface="Calibri" pitchFamily="34" charset="-122"/>
                <a:cs typeface="Calibri" pitchFamily="34" charset="-120"/>
              </a:rPr>
              <a:t> of the time, and when it disagrees it gives up 7.8% of that user’s expected payout — </a:t>
            </a:r>
            <a:pPr indent="0" marL="0">
              <a:lnSpc>
                <a:spcPts val="1800"/>
              </a:lnSpc>
              <a:buNone/>
            </a:pPr>
            <a:r>
              <a:rPr lang="en-US" sz="1250" b="1" dirty="0">
                <a:solidFill>
                  <a:srgbClr val="0F2A3F"/>
                </a:solidFill>
                <a:latin typeface="Calibri" pitchFamily="34" charset="0"/>
                <a:ea typeface="Calibri" pitchFamily="34" charset="-122"/>
                <a:cs typeface="Calibri" pitchFamily="34" charset="-120"/>
              </a:rPr>
              <a:t>1.21% averaged over everyone</a:t>
            </a:r>
            <a:pPr indent="0" marL="0">
              <a:lnSpc>
                <a:spcPts val="1800"/>
              </a:lnSpc>
              <a:buNone/>
            </a:pPr>
            <a:r>
              <a:rPr lang="en-US" sz="1250" dirty="0">
                <a:solidFill>
                  <a:srgbClr val="2B3A44"/>
                </a:solidFill>
                <a:latin typeface="Calibri" pitchFamily="34" charset="0"/>
                <a:ea typeface="Calibri" pitchFamily="34" charset="-122"/>
                <a:cs typeface="Calibri" pitchFamily="34" charset="-120"/>
              </a:rPr>
              <a:t>. So the trade is 1.21% of expected payout against 450 ms of page latency. One environment variable overturns it.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84048" cy="384048"/>
          </a:xfrm>
          <a:prstGeom prst="ellipse">
            <a:avLst/>
          </a:prstGeom>
          <a:solidFill>
            <a:srgbClr val="1C7293"/>
          </a:solidFill>
          <a:ln/>
        </p:spPr>
      </p:sp>
      <p:sp>
        <p:nvSpPr>
          <p:cNvPr id="3" name="Text 1"/>
          <p:cNvSpPr txBox="1"/>
          <p:nvPr/>
        </p:nvSpPr>
        <p:spPr>
          <a:xfrm>
            <a:off x="640080" y="420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207008" y="365760"/>
            <a:ext cx="10314432" cy="512064"/>
          </a:xfrm>
          <a:prstGeom prst="rect">
            <a:avLst/>
          </a:prstGeom>
          <a:noFill/>
          <a:ln/>
        </p:spPr>
        <p:txBody>
          <a:bodyPr wrap="square" lIns="0" tIns="0" rIns="0" bIns="0" rtlCol="0" anchor="ctr"/>
          <a:lstStyle/>
          <a:p>
            <a:pPr indent="0" marL="0">
              <a:buNone/>
            </a:pPr>
            <a:r>
              <a:rPr lang="en-US" sz="3000" b="1" dirty="0">
                <a:solidFill>
                  <a:srgbClr val="0F2A3F"/>
                </a:solidFill>
                <a:latin typeface="Cambria" pitchFamily="34" charset="0"/>
                <a:ea typeface="Cambria" pitchFamily="34" charset="-122"/>
                <a:cs typeface="Cambria" pitchFamily="34" charset="-120"/>
              </a:rPr>
              <a:t>The 2.4 GB import</a:t>
            </a:r>
            <a:endParaRPr lang="en-US" sz="3000" dirty="0"/>
          </a:p>
        </p:txBody>
      </p:sp>
      <p:sp>
        <p:nvSpPr>
          <p:cNvPr id="5" name="Text 3"/>
          <p:cNvSpPr txBox="1"/>
          <p:nvPr/>
        </p:nvSpPr>
        <p:spPr>
          <a:xfrm>
            <a:off x="1207008" y="896112"/>
            <a:ext cx="10314432" cy="310896"/>
          </a:xfrm>
          <a:prstGeom prst="rect">
            <a:avLst/>
          </a:prstGeom>
          <a:noFill/>
          <a:ln/>
        </p:spPr>
        <p:txBody>
          <a:bodyPr wrap="square" lIns="0" tIns="0" rIns="0" bIns="0" rtlCol="0" anchor="ctr"/>
          <a:lstStyle/>
          <a:p>
            <a:pPr indent="0" marL="0">
              <a:buNone/>
            </a:pPr>
            <a:r>
              <a:rPr lang="en-US" sz="1400" i="1" dirty="0">
                <a:solidFill>
                  <a:srgbClr val="5A6B78"/>
                </a:solidFill>
                <a:latin typeface="Calibri" pitchFamily="34" charset="0"/>
                <a:ea typeface="Calibri" pitchFamily="34" charset="-122"/>
                <a:cs typeface="Calibri" pitchFamily="34" charset="-120"/>
              </a:rPr>
              <a:t>One line in the research code sets the memory floor for the whole deployment.</a:t>
            </a:r>
            <a:endParaRPr lang="en-US" sz="1400" dirty="0"/>
          </a:p>
        </p:txBody>
      </p:sp>
      <p:sp>
        <p:nvSpPr>
          <p:cNvPr id="6" name="Shape 4"/>
          <p:cNvSpPr/>
          <p:nvPr/>
        </p:nvSpPr>
        <p:spPr>
          <a:xfrm>
            <a:off x="640080" y="1572768"/>
            <a:ext cx="10881360" cy="713232"/>
          </a:xfrm>
          <a:prstGeom prst="roundRect">
            <a:avLst>
              <a:gd name="adj" fmla="val 6410"/>
            </a:avLst>
          </a:prstGeom>
          <a:solidFill>
            <a:srgbClr val="0F2A3F"/>
          </a:solidFill>
          <a:ln w="12700">
            <a:solidFill>
              <a:srgbClr val="0F2A3F"/>
            </a:solidFill>
            <a:prstDash val="solid"/>
          </a:ln>
        </p:spPr>
      </p:sp>
      <p:sp>
        <p:nvSpPr>
          <p:cNvPr id="7" name="Text 5"/>
          <p:cNvSpPr txBox="1"/>
          <p:nvPr/>
        </p:nvSpPr>
        <p:spPr>
          <a:xfrm>
            <a:off x="896112" y="1737360"/>
            <a:ext cx="10424160" cy="384048"/>
          </a:xfrm>
          <a:prstGeom prst="rect">
            <a:avLst/>
          </a:prstGeom>
          <a:noFill/>
          <a:ln/>
        </p:spPr>
        <p:txBody>
          <a:bodyPr wrap="square" lIns="0" tIns="0" rIns="0" bIns="0" rtlCol="0" anchor="ctr"/>
          <a:lstStyle/>
          <a:p>
            <a:pPr indent="0" marL="0">
              <a:buNone/>
            </a:pPr>
            <a:r>
              <a:rPr lang="en-US" sz="1250" dirty="0">
                <a:solidFill>
                  <a:srgbClr val="9FE0C8"/>
                </a:solidFill>
                <a:latin typeface="Courier New" pitchFamily="34" charset="0"/>
                <a:ea typeface="Courier New" pitchFamily="34" charset="-122"/>
                <a:cs typeface="Courier New" pitchFamily="34" charset="-120"/>
              </a:rPr>
              <a:t>from names_dataset import NameDataset ;  nd = NameDataset()          # module scope, both scripts</a:t>
            </a:r>
            <a:endParaRPr lang="en-US" sz="1250" dirty="0"/>
          </a:p>
        </p:txBody>
      </p:sp>
      <p:sp>
        <p:nvSpPr>
          <p:cNvPr id="8" name="Text 6"/>
          <p:cNvSpPr txBox="1"/>
          <p:nvPr/>
        </p:nvSpPr>
        <p:spPr>
          <a:xfrm>
            <a:off x="640080" y="2423160"/>
            <a:ext cx="10881360" cy="640080"/>
          </a:xfrm>
          <a:prstGeom prst="rect">
            <a:avLst/>
          </a:prstGeom>
          <a:noFill/>
          <a:ln/>
        </p:spPr>
        <p:txBody>
          <a:bodyPr wrap="square" lIns="0" tIns="0" rIns="0" bIns="0" rtlCol="0" anchor="ctr"/>
          <a:lstStyle/>
          <a:p>
            <a:pPr indent="0" marL="0">
              <a:lnSpc>
                <a:spcPts val="2100"/>
              </a:lnSpc>
              <a:buNone/>
            </a:pPr>
            <a:r>
              <a:rPr lang="en-US" sz="1400" dirty="0">
                <a:solidFill>
                  <a:srgbClr val="2B3A44"/>
                </a:solidFill>
                <a:latin typeface="Calibri" pitchFamily="34" charset="0"/>
                <a:ea typeface="Calibri" pitchFamily="34" charset="-122"/>
                <a:cs typeface="Calibri" pitchFamily="34" charset="-120"/>
              </a:rPr>
              <a:t>detect_gender_with_confidence is a pure function of one first name, and the dataset's name universe is finite — 727,556 entries. So the training job evaluates it everywhere, once, and ships the result inside the model bundle.</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3246120"/>
          <a:ext cx="10881360" cy="914400"/>
        </p:xfrm>
        <a:graphic>
          <a:graphicData uri="http://schemas.openxmlformats.org/drawingml/2006/table">
            <a:tbl>
              <a:tblPr/>
              <a:tblGrid>
                <a:gridCol w="3291840"/>
                <a:gridCol w="1554480"/>
                <a:gridCol w="1920240"/>
                <a:gridCol w="1463040"/>
                <a:gridCol w="2651760"/>
              </a:tblGrid>
              <a:tr h="420624">
                <a:tc>
                  <a:txBody>
                    <a:bodyPr/>
                    <a:lstStyle/>
                    <a:p>
                      <a:pP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F2A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import time</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F2A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resident memory</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F2A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per lookup</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F2A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exact?</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F2A3F"/>
                    </a:solidFill>
                  </a:tcPr>
                </a:tc>
              </a:tr>
              <a:tr h="420624">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NameDataset(), per worker process</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18.6 s</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2.4 GB</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77 µs</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r>
              <a:tr h="420624">
                <a:tc>
                  <a:txBody>
                    <a:bodyPr/>
                    <a:lstStyle/>
                    <a:p>
                      <a:pPr indent="0" marL="0">
                        <a:buNone/>
                      </a:pPr>
                      <a:r>
                        <a:rPr lang="en-US" sz="1250" b="1" dirty="0">
                          <a:solidFill>
                            <a:srgbClr val="2B3A44"/>
                          </a:solidFill>
                          <a:latin typeface="Calibri" pitchFamily="34" charset="0"/>
                          <a:ea typeface="Calibri" pitchFamily="34" charset="-122"/>
                          <a:cs typeface="Calibri" pitchFamily="34" charset="-120"/>
                        </a:rPr>
                        <a:t>precomputed table (4.2 MB)</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b="1" dirty="0">
                          <a:solidFill>
                            <a:srgbClr val="1C7293"/>
                          </a:solidFill>
                          <a:latin typeface="Calibri" pitchFamily="34" charset="0"/>
                          <a:ea typeface="Calibri" pitchFamily="34" charset="-122"/>
                          <a:cs typeface="Calibri" pitchFamily="34" charset="-120"/>
                        </a:rPr>
                        <a:t>3.9 s</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b="1" dirty="0">
                          <a:solidFill>
                            <a:srgbClr val="1C7293"/>
                          </a:solidFill>
                          <a:latin typeface="Calibri" pitchFamily="34" charset="0"/>
                          <a:ea typeface="Calibri" pitchFamily="34" charset="-122"/>
                          <a:cs typeface="Calibri" pitchFamily="34" charset="-120"/>
                        </a:rPr>
                        <a:t>290 MB</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b="1" dirty="0">
                          <a:solidFill>
                            <a:srgbClr val="1C7293"/>
                          </a:solidFill>
                          <a:latin typeface="Calibri" pitchFamily="34" charset="0"/>
                          <a:ea typeface="Calibri" pitchFamily="34" charset="-122"/>
                          <a:cs typeface="Calibri" pitchFamily="34" charset="-120"/>
                        </a:rPr>
                        <a:t>0.09 µs</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b="1" dirty="0">
                          <a:solidFill>
                            <a:srgbClr val="1C7293"/>
                          </a:solidFill>
                          <a:latin typeface="Calibri" pitchFamily="34" charset="0"/>
                          <a:ea typeface="Calibri" pitchFamily="34" charset="-122"/>
                          <a:cs typeface="Calibri" pitchFamily="34" charset="-120"/>
                        </a:rPr>
                        <a:t>yes, by construction</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r>
            </a:tbl>
          </a:graphicData>
        </a:graphic>
      </p:graphicFrame>
      <p:sp>
        <p:nvSpPr>
          <p:cNvPr id="10" name="Text 7"/>
          <p:cNvSpPr txBox="1"/>
          <p:nvPr/>
        </p:nvSpPr>
        <p:spPr>
          <a:xfrm>
            <a:off x="640080" y="4572000"/>
            <a:ext cx="6583680" cy="1005840"/>
          </a:xfrm>
          <a:prstGeom prst="rect">
            <a:avLst/>
          </a:prstGeom>
          <a:noFill/>
          <a:ln/>
        </p:spPr>
        <p:txBody>
          <a:bodyPr wrap="square" lIns="0" tIns="0" rIns="0" bIns="0" rtlCol="0" anchor="ctr"/>
          <a:lstStyle/>
          <a:p>
            <a:pPr indent="0" marL="0">
              <a:lnSpc>
                <a:spcPts val="1800"/>
              </a:lnSpc>
              <a:buNone/>
            </a:pPr>
            <a:r>
              <a:rPr lang="en-US" sz="1250" dirty="0">
                <a:solidFill>
                  <a:srgbClr val="2B3A44"/>
                </a:solidFill>
                <a:latin typeface="Calibri" pitchFamily="34" charset="0"/>
                <a:ea typeface="Calibri" pitchFamily="34" charset="-122"/>
                <a:cs typeface="Calibri" pitchFamily="34" charset="-120"/>
              </a:rPr>
              <a:t>Names the table does not contain return ('unknown', 0.0) — exactly what the research implementation returns for a name the dataset does not know. That is why it is exact rather than an approximation, and a test checks it against the live dataset.</a:t>
            </a:r>
            <a:endParaRPr lang="en-US" sz="1250" dirty="0"/>
          </a:p>
        </p:txBody>
      </p:sp>
      <p:sp>
        <p:nvSpPr>
          <p:cNvPr id="11" name="Shape 8"/>
          <p:cNvSpPr/>
          <p:nvPr/>
        </p:nvSpPr>
        <p:spPr>
          <a:xfrm>
            <a:off x="7498080" y="4526280"/>
            <a:ext cx="4023360" cy="1234440"/>
          </a:xfrm>
          <a:prstGeom prst="roundRect">
            <a:avLst>
              <a:gd name="adj" fmla="val 3704"/>
            </a:avLst>
          </a:prstGeom>
          <a:solidFill>
            <a:srgbClr val="E8F2F6"/>
          </a:solidFill>
          <a:ln w="12700">
            <a:solidFill>
              <a:srgbClr val="1C7293"/>
            </a:solidFill>
            <a:prstDash val="solid"/>
          </a:ln>
        </p:spPr>
      </p:sp>
      <p:sp>
        <p:nvSpPr>
          <p:cNvPr id="12" name="Text 9"/>
          <p:cNvSpPr txBox="1"/>
          <p:nvPr/>
        </p:nvSpPr>
        <p:spPr>
          <a:xfrm>
            <a:off x="7699248" y="4681728"/>
            <a:ext cx="3621024" cy="914400"/>
          </a:xfrm>
          <a:prstGeom prst="rect">
            <a:avLst/>
          </a:prstGeom>
          <a:noFill/>
          <a:ln/>
        </p:spPr>
        <p:txBody>
          <a:bodyPr wrap="square" lIns="0" tIns="0" rIns="0" bIns="0" rtlCol="0" anchor="ctr"/>
          <a:lstStyle/>
          <a:p>
            <a:pPr indent="0" marL="0">
              <a:lnSpc>
                <a:spcPts val="1700"/>
              </a:lnSpc>
              <a:buNone/>
            </a:pPr>
            <a:r>
              <a:rPr lang="en-US" sz="1250" dirty="0">
                <a:solidFill>
                  <a:srgbClr val="0F2A3F"/>
                </a:solidFill>
                <a:latin typeface="Calibri" pitchFamily="34" charset="0"/>
                <a:ea typeface="Calibri" pitchFamily="34" charset="-122"/>
                <a:cs typeface="Calibri" pitchFamily="34" charset="-120"/>
              </a:rPr>
              <a:t>The serving image does not install names-dataset at all, and the research predictor module is imported lazily — so a default worker never touches it.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84048" cy="384048"/>
          </a:xfrm>
          <a:prstGeom prst="ellipse">
            <a:avLst/>
          </a:prstGeom>
          <a:solidFill>
            <a:srgbClr val="1C7293"/>
          </a:solidFill>
          <a:ln/>
        </p:spPr>
      </p:sp>
      <p:sp>
        <p:nvSpPr>
          <p:cNvPr id="3" name="Text 1"/>
          <p:cNvSpPr txBox="1"/>
          <p:nvPr/>
        </p:nvSpPr>
        <p:spPr>
          <a:xfrm>
            <a:off x="640080" y="420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207008" y="365760"/>
            <a:ext cx="10314432" cy="512064"/>
          </a:xfrm>
          <a:prstGeom prst="rect">
            <a:avLst/>
          </a:prstGeom>
          <a:noFill/>
          <a:ln/>
        </p:spPr>
        <p:txBody>
          <a:bodyPr wrap="square" lIns="0" tIns="0" rIns="0" bIns="0" rtlCol="0" anchor="ctr"/>
          <a:lstStyle/>
          <a:p>
            <a:pPr indent="0" marL="0">
              <a:buNone/>
            </a:pPr>
            <a:r>
              <a:rPr lang="en-US" sz="3000" b="1" dirty="0">
                <a:solidFill>
                  <a:srgbClr val="0F2A3F"/>
                </a:solidFill>
                <a:latin typeface="Cambria" pitchFamily="34" charset="0"/>
                <a:ea typeface="Cambria" pitchFamily="34" charset="-122"/>
                <a:cs typeface="Cambria" pitchFamily="34" charset="-120"/>
              </a:rPr>
              <a:t>What the original code gets wrong</a:t>
            </a:r>
            <a:endParaRPr lang="en-US" sz="3000" dirty="0"/>
          </a:p>
        </p:txBody>
      </p:sp>
      <p:sp>
        <p:nvSpPr>
          <p:cNvPr id="5" name="Text 3"/>
          <p:cNvSpPr txBox="1"/>
          <p:nvPr/>
        </p:nvSpPr>
        <p:spPr>
          <a:xfrm>
            <a:off x="1207008" y="896112"/>
            <a:ext cx="10314432" cy="310896"/>
          </a:xfrm>
          <a:prstGeom prst="rect">
            <a:avLst/>
          </a:prstGeom>
          <a:noFill/>
          <a:ln/>
        </p:spPr>
        <p:txBody>
          <a:bodyPr wrap="square" lIns="0" tIns="0" rIns="0" bIns="0" rtlCol="0" anchor="ctr"/>
          <a:lstStyle/>
          <a:p>
            <a:pPr indent="0" marL="0">
              <a:buNone/>
            </a:pPr>
            <a:r>
              <a:rPr lang="en-US" sz="1400" i="1" dirty="0">
                <a:solidFill>
                  <a:srgbClr val="5A6B78"/>
                </a:solidFill>
                <a:latin typeface="Calibri" pitchFamily="34" charset="0"/>
                <a:ea typeface="Calibri" pitchFamily="34" charset="-122"/>
                <a:cs typeface="Calibri" pitchFamily="34" charset="-120"/>
              </a:rPr>
              <a:t>Found by reading, reproduced, then fixed at a boundary — never inside the protected code.</a:t>
            </a:r>
            <a:endParaRPr lang="en-US" sz="1400" dirty="0"/>
          </a:p>
        </p:txBody>
      </p:sp>
      <p:sp>
        <p:nvSpPr>
          <p:cNvPr id="6" name="Shape 4"/>
          <p:cNvSpPr/>
          <p:nvPr/>
        </p:nvSpPr>
        <p:spPr>
          <a:xfrm>
            <a:off x="640080" y="1645920"/>
            <a:ext cx="237744" cy="237744"/>
          </a:xfrm>
          <a:prstGeom prst="ellipse">
            <a:avLst/>
          </a:prstGeom>
          <a:solidFill>
            <a:srgbClr val="E08E45"/>
          </a:solidFill>
          <a:ln w="12700">
            <a:solidFill>
              <a:srgbClr val="E08E45"/>
            </a:solidFill>
            <a:prstDash val="solid"/>
          </a:ln>
        </p:spPr>
      </p:sp>
      <p:sp>
        <p:nvSpPr>
          <p:cNvPr id="7" name="Text 5"/>
          <p:cNvSpPr txBox="1"/>
          <p:nvPr/>
        </p:nvSpPr>
        <p:spPr>
          <a:xfrm>
            <a:off x="1042416" y="1536192"/>
            <a:ext cx="3931920" cy="457200"/>
          </a:xfrm>
          <a:prstGeom prst="rect">
            <a:avLst/>
          </a:prstGeom>
          <a:noFill/>
          <a:ln/>
        </p:spPr>
        <p:txBody>
          <a:bodyPr wrap="square" lIns="0" tIns="0" rIns="0" bIns="0" rtlCol="0" anchor="ctr"/>
          <a:lstStyle/>
          <a:p>
            <a:pPr indent="0" marL="0">
              <a:lnSpc>
                <a:spcPts val="1600"/>
              </a:lnSpc>
              <a:buNone/>
            </a:pPr>
            <a:r>
              <a:rPr lang="en-US" sz="1300" b="1" dirty="0">
                <a:solidFill>
                  <a:srgbClr val="0F2A3F"/>
                </a:solidFill>
                <a:latin typeface="Calibri" pitchFamily="34" charset="0"/>
                <a:ea typeface="Calibri" pitchFamily="34" charset="-122"/>
                <a:cs typeface="Calibri" pitchFamily="34" charset="-120"/>
              </a:rPr>
              <a:t>A latent NameError in serving</a:t>
            </a:r>
            <a:endParaRPr lang="en-US" sz="1300" dirty="0"/>
          </a:p>
        </p:txBody>
      </p:sp>
      <p:sp>
        <p:nvSpPr>
          <p:cNvPr id="8" name="Text 6"/>
          <p:cNvSpPr txBox="1"/>
          <p:nvPr/>
        </p:nvSpPr>
        <p:spPr>
          <a:xfrm>
            <a:off x="5074920" y="1517904"/>
            <a:ext cx="6446520" cy="868680"/>
          </a:xfrm>
          <a:prstGeom prst="rect">
            <a:avLst/>
          </a:prstGeom>
          <a:noFill/>
          <a:ln/>
        </p:spPr>
        <p:txBody>
          <a:bodyPr wrap="square" lIns="0" tIns="0" rIns="0" bIns="0" rtlCol="0" anchor="ctr"/>
          <a:lstStyle/>
          <a:p>
            <a:pPr indent="0" marL="0">
              <a:lnSpc>
                <a:spcPts val="1500"/>
              </a:lnSpc>
              <a:buNone/>
            </a:pPr>
            <a:r>
              <a:rPr lang="en-US" sz="1150" dirty="0">
                <a:solidFill>
                  <a:srgbClr val="2B3A44"/>
                </a:solidFill>
                <a:latin typeface="Calibri" pitchFamily="34" charset="0"/>
                <a:ea typeface="Calibri" pitchFamily="34" charset="-122"/>
                <a:cs typeface="Calibri" pitchFamily="34" charset="-120"/>
              </a:rPr>
              <a:t>import_preprocess reads the module global user_data, not self.user_data. As a script it works and silently scores the hard-coded example for every caller. Imported as a library — which is what serving does — it raises.</a:t>
            </a:r>
            <a:endParaRPr lang="en-US" sz="1150" dirty="0"/>
          </a:p>
        </p:txBody>
      </p:sp>
      <p:sp>
        <p:nvSpPr>
          <p:cNvPr id="9" name="Shape 7"/>
          <p:cNvSpPr/>
          <p:nvPr/>
        </p:nvSpPr>
        <p:spPr>
          <a:xfrm>
            <a:off x="640080" y="2560320"/>
            <a:ext cx="237744" cy="237744"/>
          </a:xfrm>
          <a:prstGeom prst="ellipse">
            <a:avLst/>
          </a:prstGeom>
          <a:solidFill>
            <a:srgbClr val="E08E45"/>
          </a:solidFill>
          <a:ln w="12700">
            <a:solidFill>
              <a:srgbClr val="E08E45"/>
            </a:solidFill>
            <a:prstDash val="solid"/>
          </a:ln>
        </p:spPr>
      </p:sp>
      <p:sp>
        <p:nvSpPr>
          <p:cNvPr id="10" name="Text 8"/>
          <p:cNvSpPr txBox="1"/>
          <p:nvPr/>
        </p:nvSpPr>
        <p:spPr>
          <a:xfrm>
            <a:off x="1042416" y="2450592"/>
            <a:ext cx="3931920" cy="457200"/>
          </a:xfrm>
          <a:prstGeom prst="rect">
            <a:avLst/>
          </a:prstGeom>
          <a:noFill/>
          <a:ln/>
        </p:spPr>
        <p:txBody>
          <a:bodyPr wrap="square" lIns="0" tIns="0" rIns="0" bIns="0" rtlCol="0" anchor="ctr"/>
          <a:lstStyle/>
          <a:p>
            <a:pPr indent="0" marL="0">
              <a:lnSpc>
                <a:spcPts val="1600"/>
              </a:lnSpc>
              <a:buNone/>
            </a:pPr>
            <a:r>
              <a:rPr lang="en-US" sz="1300" b="1" dirty="0">
                <a:solidFill>
                  <a:srgbClr val="0F2A3F"/>
                </a:solidFill>
                <a:latin typeface="Calibri" pitchFamily="34" charset="0"/>
                <a:ea typeface="Calibri" pitchFamily="34" charset="-122"/>
                <a:cs typeface="Calibri" pitchFamily="34" charset="-120"/>
              </a:rPr>
              <a:t>Attribution ids skew, permanently</a:t>
            </a:r>
            <a:endParaRPr lang="en-US" sz="1300" dirty="0"/>
          </a:p>
        </p:txBody>
      </p:sp>
      <p:sp>
        <p:nvSpPr>
          <p:cNvPr id="11" name="Text 9"/>
          <p:cNvSpPr txBox="1"/>
          <p:nvPr/>
        </p:nvSpPr>
        <p:spPr>
          <a:xfrm>
            <a:off x="5074920" y="2432304"/>
            <a:ext cx="6446520" cy="868680"/>
          </a:xfrm>
          <a:prstGeom prst="rect">
            <a:avLst/>
          </a:prstGeom>
          <a:noFill/>
          <a:ln/>
        </p:spPr>
        <p:txBody>
          <a:bodyPr wrap="square" lIns="0" tIns="0" rIns="0" bIns="0" rtlCol="0" anchor="ctr"/>
          <a:lstStyle/>
          <a:p>
            <a:pPr indent="0" marL="0">
              <a:lnSpc>
                <a:spcPts val="1500"/>
              </a:lnSpc>
              <a:buNone/>
            </a:pPr>
            <a:r>
              <a:rPr lang="en-US" sz="1150" dirty="0">
                <a:solidFill>
                  <a:srgbClr val="2B3A44"/>
                </a:solidFill>
                <a:latin typeface="Calibri" pitchFamily="34" charset="0"/>
                <a:ea typeface="Calibri" pitchFamily="34" charset="-122"/>
                <a:cs typeface="Calibri" pitchFamily="34" charset="-120"/>
              </a:rPr>
              <a:t>fillna('Other') then astype(str) on sub1/2/3. One null makes the column float64, so training sees '1815195.0' and a request produces '1815195'. Three of fourteen categorical features miss on every request, with nothing in any log.</a:t>
            </a:r>
            <a:endParaRPr lang="en-US" sz="1150" dirty="0"/>
          </a:p>
        </p:txBody>
      </p:sp>
      <p:sp>
        <p:nvSpPr>
          <p:cNvPr id="12" name="Shape 10"/>
          <p:cNvSpPr/>
          <p:nvPr/>
        </p:nvSpPr>
        <p:spPr>
          <a:xfrm>
            <a:off x="640080" y="3474720"/>
            <a:ext cx="237744" cy="237744"/>
          </a:xfrm>
          <a:prstGeom prst="ellipse">
            <a:avLst/>
          </a:prstGeom>
          <a:solidFill>
            <a:srgbClr val="E08E45"/>
          </a:solidFill>
          <a:ln w="12700">
            <a:solidFill>
              <a:srgbClr val="E08E45"/>
            </a:solidFill>
            <a:prstDash val="solid"/>
          </a:ln>
        </p:spPr>
      </p:sp>
      <p:sp>
        <p:nvSpPr>
          <p:cNvPr id="13" name="Text 11"/>
          <p:cNvSpPr txBox="1"/>
          <p:nvPr/>
        </p:nvSpPr>
        <p:spPr>
          <a:xfrm>
            <a:off x="1042416" y="3364992"/>
            <a:ext cx="3931920" cy="457200"/>
          </a:xfrm>
          <a:prstGeom prst="rect">
            <a:avLst/>
          </a:prstGeom>
          <a:noFill/>
          <a:ln/>
        </p:spPr>
        <p:txBody>
          <a:bodyPr wrap="square" lIns="0" tIns="0" rIns="0" bIns="0" rtlCol="0" anchor="ctr"/>
          <a:lstStyle/>
          <a:p>
            <a:pPr indent="0" marL="0">
              <a:lnSpc>
                <a:spcPts val="1600"/>
              </a:lnSpc>
              <a:buNone/>
            </a:pPr>
            <a:r>
              <a:rPr lang="en-US" sz="1300" b="1" dirty="0">
                <a:solidFill>
                  <a:srgbClr val="0F2A3F"/>
                </a:solidFill>
                <a:latin typeface="Calibri" pitchFamily="34" charset="0"/>
                <a:ea typeface="Calibri" pitchFamily="34" charset="-122"/>
                <a:cs typeface="Calibri" pitchFamily="34" charset="-120"/>
              </a:rPr>
              <a:t>campaign_id loses precision</a:t>
            </a:r>
            <a:endParaRPr lang="en-US" sz="1300" dirty="0"/>
          </a:p>
        </p:txBody>
      </p:sp>
      <p:sp>
        <p:nvSpPr>
          <p:cNvPr id="14" name="Text 12"/>
          <p:cNvSpPr txBox="1"/>
          <p:nvPr/>
        </p:nvSpPr>
        <p:spPr>
          <a:xfrm>
            <a:off x="5074920" y="3346704"/>
            <a:ext cx="6446520" cy="868680"/>
          </a:xfrm>
          <a:prstGeom prst="rect">
            <a:avLst/>
          </a:prstGeom>
          <a:noFill/>
          <a:ln/>
        </p:spPr>
        <p:txBody>
          <a:bodyPr wrap="square" lIns="0" tIns="0" rIns="0" bIns="0" rtlCol="0" anchor="ctr"/>
          <a:lstStyle/>
          <a:p>
            <a:pPr indent="0" marL="0">
              <a:lnSpc>
                <a:spcPts val="1500"/>
              </a:lnSpc>
              <a:buNone/>
            </a:pPr>
            <a:r>
              <a:rPr lang="en-US" sz="1150" dirty="0">
                <a:solidFill>
                  <a:srgbClr val="2B3A44"/>
                </a:solidFill>
                <a:latin typeface="Calibri" pitchFamily="34" charset="0"/>
                <a:ea typeface="Calibri" pitchFamily="34" charset="-122"/>
                <a:cs typeface="Calibri" pitchFamily="34" charset="-120"/>
              </a:rPr>
              <a:t>Real ids are ~1.2e17, past float64's mantissa. One null demotes the column and ...306 becomes ...304 in training while serving sends the exact integer.</a:t>
            </a:r>
            <a:endParaRPr lang="en-US" sz="1150" dirty="0"/>
          </a:p>
        </p:txBody>
      </p:sp>
      <p:sp>
        <p:nvSpPr>
          <p:cNvPr id="15" name="Shape 13"/>
          <p:cNvSpPr/>
          <p:nvPr/>
        </p:nvSpPr>
        <p:spPr>
          <a:xfrm>
            <a:off x="640080" y="4389120"/>
            <a:ext cx="237744" cy="237744"/>
          </a:xfrm>
          <a:prstGeom prst="ellipse">
            <a:avLst/>
          </a:prstGeom>
          <a:solidFill>
            <a:srgbClr val="E08E45"/>
          </a:solidFill>
          <a:ln w="12700">
            <a:solidFill>
              <a:srgbClr val="E08E45"/>
            </a:solidFill>
            <a:prstDash val="solid"/>
          </a:ln>
        </p:spPr>
      </p:sp>
      <p:sp>
        <p:nvSpPr>
          <p:cNvPr id="16" name="Text 14"/>
          <p:cNvSpPr txBox="1"/>
          <p:nvPr/>
        </p:nvSpPr>
        <p:spPr>
          <a:xfrm>
            <a:off x="1042416" y="4279392"/>
            <a:ext cx="3931920" cy="457200"/>
          </a:xfrm>
          <a:prstGeom prst="rect">
            <a:avLst/>
          </a:prstGeom>
          <a:noFill/>
          <a:ln/>
        </p:spPr>
        <p:txBody>
          <a:bodyPr wrap="square" lIns="0" tIns="0" rIns="0" bIns="0" rtlCol="0" anchor="ctr"/>
          <a:lstStyle/>
          <a:p>
            <a:pPr indent="0" marL="0">
              <a:lnSpc>
                <a:spcPts val="1600"/>
              </a:lnSpc>
              <a:buNone/>
            </a:pPr>
            <a:r>
              <a:rPr lang="en-US" sz="1300" b="1" dirty="0">
                <a:solidFill>
                  <a:srgbClr val="0F2A3F"/>
                </a:solidFill>
                <a:latin typeface="Calibri" pitchFamily="34" charset="0"/>
                <a:ea typeface="Calibri" pitchFamily="34" charset="-122"/>
                <a:cs typeface="Calibri" pitchFamily="34" charset="-120"/>
              </a:rPr>
              <a:t>A documented response shape that cannot happen</a:t>
            </a:r>
            <a:endParaRPr lang="en-US" sz="1300" dirty="0"/>
          </a:p>
        </p:txBody>
      </p:sp>
      <p:sp>
        <p:nvSpPr>
          <p:cNvPr id="17" name="Text 15"/>
          <p:cNvSpPr txBox="1"/>
          <p:nvPr/>
        </p:nvSpPr>
        <p:spPr>
          <a:xfrm>
            <a:off x="5074920" y="4261104"/>
            <a:ext cx="6446520" cy="868680"/>
          </a:xfrm>
          <a:prstGeom prst="rect">
            <a:avLst/>
          </a:prstGeom>
          <a:noFill/>
          <a:ln/>
        </p:spPr>
        <p:txBody>
          <a:bodyPr wrap="square" lIns="0" tIns="0" rIns="0" bIns="0" rtlCol="0" anchor="ctr"/>
          <a:lstStyle/>
          <a:p>
            <a:pPr indent="0" marL="0">
              <a:lnSpc>
                <a:spcPts val="1500"/>
              </a:lnSpc>
              <a:buNone/>
            </a:pPr>
            <a:r>
              <a:rPr lang="en-US" sz="1150" dirty="0">
                <a:solidFill>
                  <a:srgbClr val="2B3A44"/>
                </a:solidFill>
                <a:latin typeface="Calibri" pitchFamily="34" charset="0"/>
                <a:ea typeface="Calibri" pitchFamily="34" charset="-122"/>
                <a:cs typeface="Calibri" pitchFamily="34" charset="-120"/>
              </a:rPr>
              <a:t>When the survey drop empties a single user's frame, the code dies in additional_features rather than returning its documented fallback.</a:t>
            </a:r>
            <a:endParaRPr lang="en-US" sz="1150" dirty="0"/>
          </a:p>
        </p:txBody>
      </p:sp>
      <p:sp>
        <p:nvSpPr>
          <p:cNvPr id="18" name="Shape 16"/>
          <p:cNvSpPr/>
          <p:nvPr/>
        </p:nvSpPr>
        <p:spPr>
          <a:xfrm>
            <a:off x="640080" y="5303520"/>
            <a:ext cx="237744" cy="237744"/>
          </a:xfrm>
          <a:prstGeom prst="ellipse">
            <a:avLst/>
          </a:prstGeom>
          <a:solidFill>
            <a:srgbClr val="E08E45"/>
          </a:solidFill>
          <a:ln w="12700">
            <a:solidFill>
              <a:srgbClr val="E08E45"/>
            </a:solidFill>
            <a:prstDash val="solid"/>
          </a:ln>
        </p:spPr>
      </p:sp>
      <p:sp>
        <p:nvSpPr>
          <p:cNvPr id="19" name="Text 17"/>
          <p:cNvSpPr txBox="1"/>
          <p:nvPr/>
        </p:nvSpPr>
        <p:spPr>
          <a:xfrm>
            <a:off x="1042416" y="5193792"/>
            <a:ext cx="3931920" cy="457200"/>
          </a:xfrm>
          <a:prstGeom prst="rect">
            <a:avLst/>
          </a:prstGeom>
          <a:noFill/>
          <a:ln/>
        </p:spPr>
        <p:txBody>
          <a:bodyPr wrap="square" lIns="0" tIns="0" rIns="0" bIns="0" rtlCol="0" anchor="ctr"/>
          <a:lstStyle/>
          <a:p>
            <a:pPr indent="0" marL="0">
              <a:lnSpc>
                <a:spcPts val="1600"/>
              </a:lnSpc>
              <a:buNone/>
            </a:pPr>
            <a:r>
              <a:rPr lang="en-US" sz="1300" b="1" dirty="0">
                <a:solidFill>
                  <a:srgbClr val="0F2A3F"/>
                </a:solidFill>
                <a:latin typeface="Calibri" pitchFamily="34" charset="0"/>
                <a:ea typeface="Calibri" pitchFamily="34" charset="-122"/>
                <a:cs typeface="Calibri" pitchFamily="34" charset="-120"/>
              </a:rPr>
              <a:t>Global state in library code</a:t>
            </a:r>
            <a:endParaRPr lang="en-US" sz="1300" dirty="0"/>
          </a:p>
        </p:txBody>
      </p:sp>
      <p:sp>
        <p:nvSpPr>
          <p:cNvPr id="20" name="Text 18"/>
          <p:cNvSpPr txBox="1"/>
          <p:nvPr/>
        </p:nvSpPr>
        <p:spPr>
          <a:xfrm>
            <a:off x="5074920" y="5175504"/>
            <a:ext cx="6446520" cy="868680"/>
          </a:xfrm>
          <a:prstGeom prst="rect">
            <a:avLst/>
          </a:prstGeom>
          <a:noFill/>
          <a:ln/>
        </p:spPr>
        <p:txBody>
          <a:bodyPr wrap="square" lIns="0" tIns="0" rIns="0" bIns="0" rtlCol="0" anchor="ctr"/>
          <a:lstStyle/>
          <a:p>
            <a:pPr indent="0" marL="0">
              <a:lnSpc>
                <a:spcPts val="1500"/>
              </a:lnSpc>
              <a:buNone/>
            </a:pPr>
            <a:r>
              <a:rPr lang="en-US" sz="1150" dirty="0">
                <a:solidFill>
                  <a:srgbClr val="2B3A44"/>
                </a:solidFill>
                <a:latin typeface="Calibri" pitchFamily="34" charset="0"/>
                <a:ea typeface="Calibri" pitchFamily="34" charset="-122"/>
                <a:cs typeface="Calibri" pitchFamily="34" charset="-120"/>
              </a:rPr>
              <a:t>setup_bl_logger clears the root logger and opens a new file per instantiation — one log file per request, and MLflow and uvicorn silenced for the rest of the process.</a:t>
            </a:r>
            <a:endParaRPr lang="en-US" sz="1150" dirty="0"/>
          </a:p>
        </p:txBody>
      </p:sp>
      <p:sp>
        <p:nvSpPr>
          <p:cNvPr id="21" name="Text 19"/>
          <p:cNvSpPr txBox="1"/>
          <p:nvPr/>
        </p:nvSpPr>
        <p:spPr>
          <a:xfrm>
            <a:off x="640080" y="6108192"/>
            <a:ext cx="10881360" cy="502920"/>
          </a:xfrm>
          <a:prstGeom prst="rect">
            <a:avLst/>
          </a:prstGeom>
          <a:noFill/>
          <a:ln/>
        </p:spPr>
        <p:txBody>
          <a:bodyPr wrap="square" lIns="0" tIns="0" rIns="0" bIns="0" rtlCol="0" anchor="ctr"/>
          <a:lstStyle/>
          <a:p>
            <a:pPr indent="0" marL="0">
              <a:lnSpc>
                <a:spcPts val="1600"/>
              </a:lnSpc>
              <a:buNone/>
            </a:pPr>
            <a:r>
              <a:rPr lang="en-US" sz="1200" i="1" dirty="0">
                <a:solidFill>
                  <a:srgbClr val="5A6B78"/>
                </a:solidFill>
                <a:latin typeface="Calibri" pitchFamily="34" charset="0"/>
                <a:ea typeface="Calibri" pitchFamily="34" charset="-122"/>
                <a:cs typeface="Calibri" pitchFamily="34" charset="-120"/>
              </a:rPr>
              <a:t>Also: a locale dependency in day_name() that would emit an unseen category with no error, and three input assumptions a warehouse dump does not guarantee. All enforced once at ingestion, with every repair counted and logged.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84048" cy="384048"/>
          </a:xfrm>
          <a:prstGeom prst="ellipse">
            <a:avLst/>
          </a:prstGeom>
          <a:solidFill>
            <a:srgbClr val="1C7293"/>
          </a:solidFill>
          <a:ln/>
        </p:spPr>
      </p:sp>
      <p:sp>
        <p:nvSpPr>
          <p:cNvPr id="3" name="Text 1"/>
          <p:cNvSpPr txBox="1"/>
          <p:nvPr/>
        </p:nvSpPr>
        <p:spPr>
          <a:xfrm>
            <a:off x="640080" y="420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207008" y="365760"/>
            <a:ext cx="10314432" cy="512064"/>
          </a:xfrm>
          <a:prstGeom prst="rect">
            <a:avLst/>
          </a:prstGeom>
          <a:noFill/>
          <a:ln/>
        </p:spPr>
        <p:txBody>
          <a:bodyPr wrap="square" lIns="0" tIns="0" rIns="0" bIns="0" rtlCol="0" anchor="ctr"/>
          <a:lstStyle/>
          <a:p>
            <a:pPr indent="0" marL="0">
              <a:buNone/>
            </a:pPr>
            <a:r>
              <a:rPr lang="en-US" sz="3000" b="1" dirty="0">
                <a:solidFill>
                  <a:srgbClr val="0F2A3F"/>
                </a:solidFill>
                <a:latin typeface="Cambria" pitchFamily="34" charset="0"/>
                <a:ea typeface="Cambria" pitchFamily="34" charset="-122"/>
                <a:cs typeface="Cambria" pitchFamily="34" charset="-120"/>
              </a:rPr>
              <a:t>Load simulation</a:t>
            </a:r>
            <a:endParaRPr lang="en-US" sz="3000" dirty="0"/>
          </a:p>
        </p:txBody>
      </p:sp>
      <p:sp>
        <p:nvSpPr>
          <p:cNvPr id="5" name="Text 3"/>
          <p:cNvSpPr txBox="1"/>
          <p:nvPr/>
        </p:nvSpPr>
        <p:spPr>
          <a:xfrm>
            <a:off x="1207008" y="896112"/>
            <a:ext cx="10314432" cy="310896"/>
          </a:xfrm>
          <a:prstGeom prst="rect">
            <a:avLst/>
          </a:prstGeom>
          <a:noFill/>
          <a:ln/>
        </p:spPr>
        <p:txBody>
          <a:bodyPr wrap="square" lIns="0" tIns="0" rIns="0" bIns="0" rtlCol="0" anchor="ctr"/>
          <a:lstStyle/>
          <a:p>
            <a:pPr indent="0" marL="0">
              <a:buNone/>
            </a:pPr>
            <a:r>
              <a:rPr lang="en-US" sz="1400" i="1" dirty="0">
                <a:solidFill>
                  <a:srgbClr val="5A6B78"/>
                </a:solidFill>
                <a:latin typeface="Calibri" pitchFamily="34" charset="0"/>
                <a:ea typeface="Calibri" pitchFamily="34" charset="-122"/>
                <a:cs typeface="Calibri" pitchFamily="34" charset="-120"/>
              </a:rPr>
              <a:t>Open loop, because a closed loop hides the tail.</a:t>
            </a:r>
            <a:endParaRPr lang="en-US" sz="1400" dirty="0"/>
          </a:p>
        </p:txBody>
      </p:sp>
      <p:sp>
        <p:nvSpPr>
          <p:cNvPr id="6" name="Shape 4"/>
          <p:cNvSpPr/>
          <p:nvPr/>
        </p:nvSpPr>
        <p:spPr>
          <a:xfrm>
            <a:off x="640080" y="1554480"/>
            <a:ext cx="4846320" cy="1920240"/>
          </a:xfrm>
          <a:prstGeom prst="roundRect">
            <a:avLst>
              <a:gd name="adj" fmla="val 2857"/>
            </a:avLst>
          </a:prstGeom>
          <a:solidFill>
            <a:srgbClr val="FBF1E8"/>
          </a:solidFill>
          <a:ln w="12700">
            <a:solidFill>
              <a:srgbClr val="F0DCC8"/>
            </a:solidFill>
            <a:prstDash val="solid"/>
          </a:ln>
        </p:spPr>
      </p:sp>
      <p:sp>
        <p:nvSpPr>
          <p:cNvPr id="7" name="Text 5"/>
          <p:cNvSpPr txBox="1"/>
          <p:nvPr/>
        </p:nvSpPr>
        <p:spPr>
          <a:xfrm>
            <a:off x="868680" y="1719072"/>
            <a:ext cx="4389120" cy="310896"/>
          </a:xfrm>
          <a:prstGeom prst="rect">
            <a:avLst/>
          </a:prstGeom>
          <a:noFill/>
          <a:ln/>
        </p:spPr>
        <p:txBody>
          <a:bodyPr wrap="square" lIns="0" tIns="0" rIns="0" bIns="0" rtlCol="0" anchor="ctr"/>
          <a:lstStyle/>
          <a:p>
            <a:pPr indent="0" marL="0">
              <a:buNone/>
            </a:pPr>
            <a:r>
              <a:rPr lang="en-US" sz="1300" b="1" dirty="0">
                <a:solidFill>
                  <a:srgbClr val="E08E45"/>
                </a:solidFill>
                <a:latin typeface="Calibri" pitchFamily="34" charset="0"/>
                <a:ea typeface="Calibri" pitchFamily="34" charset="-122"/>
                <a:cs typeface="Calibri" pitchFamily="34" charset="-120"/>
              </a:rPr>
              <a:t>Coordinated omission</a:t>
            </a:r>
            <a:endParaRPr lang="en-US" sz="1300" dirty="0"/>
          </a:p>
        </p:txBody>
      </p:sp>
      <p:sp>
        <p:nvSpPr>
          <p:cNvPr id="8" name="Text 6"/>
          <p:cNvSpPr txBox="1"/>
          <p:nvPr/>
        </p:nvSpPr>
        <p:spPr>
          <a:xfrm>
            <a:off x="868680" y="2066544"/>
            <a:ext cx="4389120" cy="1280160"/>
          </a:xfrm>
          <a:prstGeom prst="rect">
            <a:avLst/>
          </a:prstGeom>
          <a:noFill/>
          <a:ln/>
        </p:spPr>
        <p:txBody>
          <a:bodyPr wrap="square" lIns="0" tIns="0" rIns="0" bIns="0" rtlCol="0" anchor="ctr"/>
          <a:lstStyle/>
          <a:p>
            <a:pPr indent="0" marL="0">
              <a:lnSpc>
                <a:spcPts val="1800"/>
              </a:lnSpc>
              <a:buNone/>
            </a:pPr>
            <a:r>
              <a:rPr lang="en-US" sz="1250" dirty="0">
                <a:solidFill>
                  <a:srgbClr val="2B3A44"/>
                </a:solidFill>
                <a:latin typeface="Calibri" pitchFamily="34" charset="0"/>
                <a:ea typeface="Calibri" pitchFamily="34" charset="-122"/>
                <a:cs typeface="Calibri" pitchFamily="34" charset="-120"/>
              </a:rPr>
              <a:t>A client that sends, waits, then sends again slows down when the server does — so the requests that would have queued are never sent, and never appear in the percentiles. It makes a struggling service look healthiest exactly when it is worst.</a:t>
            </a:r>
            <a:endParaRPr lang="en-US" sz="1250" dirty="0"/>
          </a:p>
        </p:txBody>
      </p:sp>
      <p:sp>
        <p:nvSpPr>
          <p:cNvPr id="9" name="Text 7"/>
          <p:cNvSpPr txBox="1"/>
          <p:nvPr/>
        </p:nvSpPr>
        <p:spPr>
          <a:xfrm>
            <a:off x="5943600" y="1719072"/>
            <a:ext cx="5577840" cy="310896"/>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What this harness does instead</a:t>
            </a:r>
            <a:endParaRPr lang="en-US" sz="1300" dirty="0"/>
          </a:p>
        </p:txBody>
      </p:sp>
      <p:sp>
        <p:nvSpPr>
          <p:cNvPr id="10" name="Text 8"/>
          <p:cNvSpPr txBox="1"/>
          <p:nvPr/>
        </p:nvSpPr>
        <p:spPr>
          <a:xfrm>
            <a:off x="5943600" y="2066544"/>
            <a:ext cx="5577840" cy="1828800"/>
          </a:xfrm>
          <a:prstGeom prst="rect">
            <a:avLst/>
          </a:prstGeom>
          <a:noFill/>
          <a:ln/>
        </p:spPr>
        <p:txBody>
          <a:bodyPr wrap="square" rtlCol="0" anchor="t"/>
          <a:lstStyle/>
          <a:p>
            <a:pPr marL="342900" indent="-342900">
              <a:lnSpc>
                <a:spcPts val="1813"/>
              </a:lnSpc>
              <a:spcAft>
                <a:spcPts val="700"/>
              </a:spcAft>
              <a:buSzPct val="100000"/>
              <a:buChar char="•"/>
            </a:pPr>
            <a:r>
              <a:rPr lang="en-US" sz="1250" dirty="0">
                <a:solidFill>
                  <a:srgbClr val="2B3A44"/>
                </a:solidFill>
                <a:latin typeface="Calibri" pitchFamily="34" charset="0"/>
                <a:ea typeface="Calibri" pitchFamily="34" charset="-122"/>
                <a:cs typeface="Calibri" pitchFamily="34" charset="-120"/>
              </a:rPr>
              <a:t>Poisson arrivals at a fixed target rate, independent of the server</a:t>
            </a:r>
            <a:endParaRPr lang="en-US" sz="1250" dirty="0"/>
          </a:p>
          <a:p>
            <a:pPr marL="342900" indent="-342900">
              <a:lnSpc>
                <a:spcPts val="1813"/>
              </a:lnSpc>
              <a:spcAft>
                <a:spcPts val="700"/>
              </a:spcAft>
              <a:buSzPct val="100000"/>
              <a:buChar char="•"/>
            </a:pPr>
            <a:r>
              <a:rPr lang="en-US" sz="1250" dirty="0">
                <a:solidFill>
                  <a:srgbClr val="2B3A44"/>
                </a:solidFill>
                <a:latin typeface="Calibri" pitchFamily="34" charset="0"/>
                <a:ea typeface="Calibri" pitchFamily="34" charset="-122"/>
                <a:cs typeface="Calibri" pitchFamily="34" charset="-120"/>
              </a:rPr>
              <a:t>Latency measured from when a request was due, so queueing is inside it</a:t>
            </a:r>
            <a:endParaRPr lang="en-US" sz="1250" dirty="0"/>
          </a:p>
          <a:p>
            <a:pPr marL="342900" indent="-342900">
              <a:lnSpc>
                <a:spcPts val="1813"/>
              </a:lnSpc>
              <a:spcAft>
                <a:spcPts val="700"/>
              </a:spcAft>
              <a:buSzPct val="100000"/>
              <a:buChar char="•"/>
            </a:pPr>
            <a:r>
              <a:rPr lang="en-US" sz="1250" dirty="0">
                <a:solidFill>
                  <a:srgbClr val="2B3A44"/>
                </a:solidFill>
                <a:latin typeface="Calibri" pitchFamily="34" charset="0"/>
                <a:ea typeface="Calibri" pitchFamily="34" charset="-122"/>
                <a:cs typeface="Calibri" pitchFamily="34" charset="-120"/>
              </a:rPr>
              <a:t>Server handler time returned in a header — the gap is the queueing</a:t>
            </a:r>
            <a:endParaRPr lang="en-US" sz="1250" dirty="0"/>
          </a:p>
          <a:p>
            <a:pPr marL="342900" indent="-342900">
              <a:lnSpc>
                <a:spcPts val="1813"/>
              </a:lnSpc>
              <a:spcAft>
                <a:spcPts val="700"/>
              </a:spcAft>
              <a:buSzPct val="100000"/>
              <a:buChar char="•"/>
            </a:pPr>
            <a:r>
              <a:rPr lang="en-US" sz="1250" dirty="0">
                <a:solidFill>
                  <a:srgbClr val="2B3A44"/>
                </a:solidFill>
                <a:latin typeface="Calibri" pitchFamily="34" charset="0"/>
                <a:ea typeface="Calibri" pitchFamily="34" charset="-122"/>
                <a:cs typeface="Calibri" pitchFamily="34" charset="-120"/>
              </a:rPr>
              <a:t>Nearest-rank percentiles: every value printed is a real observation</a:t>
            </a:r>
            <a:endParaRPr lang="en-US" sz="1250" dirty="0"/>
          </a:p>
          <a:p>
            <a:pPr marL="342900" indent="-342900">
              <a:lnSpc>
                <a:spcPts val="1813"/>
              </a:lnSpc>
              <a:spcAft>
                <a:spcPts val="700"/>
              </a:spcAft>
              <a:buSzPct val="100000"/>
              <a:buChar char="•"/>
            </a:pPr>
            <a:r>
              <a:rPr lang="en-US" sz="1250" dirty="0">
                <a:solidFill>
                  <a:srgbClr val="2B3A44"/>
                </a:solidFill>
                <a:latin typeface="Calibri" pitchFamily="34" charset="0"/>
                <a:ea typeface="Calibri" pitchFamily="34" charset="-122"/>
                <a:cs typeface="Calibri" pitchFamily="34" charset="-120"/>
              </a:rPr>
              <a:t>A sweep, not a point — capacity is where achieved falls behind target</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3794760"/>
          <a:ext cx="10881360" cy="914400"/>
        </p:xfrm>
        <a:graphic>
          <a:graphicData uri="http://schemas.openxmlformats.org/drawingml/2006/table">
            <a:tbl>
              <a:tblPr/>
              <a:tblGrid>
                <a:gridCol w="1737360"/>
                <a:gridCol w="1737360"/>
                <a:gridCol w="1810512"/>
                <a:gridCol w="1810512"/>
                <a:gridCol w="1810512"/>
                <a:gridCol w="1975104"/>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target rps</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F2A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achieved</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F2A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p50</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F2A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p90</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F2A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p99</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F2A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errors</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F2A3F"/>
                    </a:solidFill>
                  </a:tcPr>
                </a:tc>
              </a:tr>
              <a:tr h="365760">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25</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24.2</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10.4</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13.2</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25.3</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r>
              <a:tr h="365760">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50</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48.5</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10.5</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14.5</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19.8</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r>
              <a:tr h="365760">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97.6</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10.6</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14.7</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38.1</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r>
              <a:tr h="365760">
                <a:tc>
                  <a:txBody>
                    <a:bodyPr/>
                    <a:lstStyle/>
                    <a:p>
                      <a:pPr indent="0" marL="0">
                        <a:buNone/>
                      </a:pPr>
                      <a:r>
                        <a:rPr lang="en-US" sz="1250" b="1" dirty="0">
                          <a:solidFill>
                            <a:srgbClr val="0F2A3F"/>
                          </a:solidFill>
                          <a:latin typeface="Calibri" pitchFamily="34" charset="0"/>
                          <a:ea typeface="Calibri" pitchFamily="34" charset="-122"/>
                          <a:cs typeface="Calibri" pitchFamily="34" charset="-120"/>
                        </a:rPr>
                        <a:t>200</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b="1" dirty="0">
                          <a:solidFill>
                            <a:srgbClr val="0F2A3F"/>
                          </a:solidFill>
                          <a:latin typeface="Calibri" pitchFamily="34" charset="0"/>
                          <a:ea typeface="Calibri" pitchFamily="34" charset="-122"/>
                          <a:cs typeface="Calibri" pitchFamily="34" charset="-120"/>
                        </a:rPr>
                        <a:t>197.7</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b="1" dirty="0">
                          <a:solidFill>
                            <a:srgbClr val="0F2A3F"/>
                          </a:solidFill>
                          <a:latin typeface="Calibri" pitchFamily="34" charset="0"/>
                          <a:ea typeface="Calibri" pitchFamily="34" charset="-122"/>
                          <a:cs typeface="Calibri" pitchFamily="34" charset="-120"/>
                        </a:rPr>
                        <a:t>21.7</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b="1" dirty="0">
                          <a:solidFill>
                            <a:srgbClr val="0F2A3F"/>
                          </a:solidFill>
                          <a:latin typeface="Calibri" pitchFamily="34" charset="0"/>
                          <a:ea typeface="Calibri" pitchFamily="34" charset="-122"/>
                          <a:cs typeface="Calibri" pitchFamily="34" charset="-120"/>
                        </a:rPr>
                        <a:t>37.8</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b="1" dirty="0">
                          <a:solidFill>
                            <a:srgbClr val="0F2A3F"/>
                          </a:solidFill>
                          <a:latin typeface="Calibri" pitchFamily="34" charset="0"/>
                          <a:ea typeface="Calibri" pitchFamily="34" charset="-122"/>
                          <a:cs typeface="Calibri" pitchFamily="34" charset="-120"/>
                        </a:rPr>
                        <a:t>60.8</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b="1" dirty="0">
                          <a:solidFill>
                            <a:srgbClr val="0F2A3F"/>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r>
            </a:tbl>
          </a:graphicData>
        </a:graphic>
      </p:graphicFrame>
      <p:sp>
        <p:nvSpPr>
          <p:cNvPr id="12" name="Text 9"/>
          <p:cNvSpPr txBox="1"/>
          <p:nvPr/>
        </p:nvSpPr>
        <p:spPr>
          <a:xfrm>
            <a:off x="640080" y="5623560"/>
            <a:ext cx="10881360" cy="731520"/>
          </a:xfrm>
          <a:prstGeom prst="rect">
            <a:avLst/>
          </a:prstGeom>
          <a:noFill/>
          <a:ln/>
        </p:spPr>
        <p:txBody>
          <a:bodyPr wrap="square" lIns="0" tIns="0" rIns="0" bIns="0" rtlCol="0" anchor="ctr"/>
          <a:lstStyle/>
          <a:p>
            <a:pPr indent="0" marL="0">
              <a:lnSpc>
                <a:spcPts val="1800"/>
              </a:lnSpc>
              <a:buNone/>
            </a:pPr>
            <a:r>
              <a:rPr lang="en-US" sz="1250" b="1" dirty="0">
                <a:solidFill>
                  <a:srgbClr val="0F2A3F"/>
                </a:solidFill>
                <a:latin typeface="Calibri" pitchFamily="34" charset="0"/>
                <a:ea typeface="Calibri" pitchFamily="34" charset="-122"/>
                <a:cs typeface="Calibri" pitchFamily="34" charset="-120"/>
              </a:rPr>
              <a:t>Capacity is between 200 and 300 rps, and the failure is a cliff, not a slope. </a:t>
            </a:r>
            <a:pPr indent="0" marL="0">
              <a:lnSpc>
                <a:spcPts val="1800"/>
              </a:lnSpc>
              <a:buNone/>
            </a:pPr>
            <a:r>
              <a:rPr lang="en-US" sz="1250" dirty="0">
                <a:solidFill>
                  <a:srgbClr val="2B3A44"/>
                </a:solidFill>
                <a:latin typeface="Calibri" pitchFamily="34" charset="0"/>
                <a:ea typeface="Calibri" pitchFamily="34" charset="-122"/>
                <a:cs typeface="Calibri" pitchFamily="34" charset="-120"/>
              </a:rPr>
              <a:t>At a 300 rps target the server delivers 130 and p50 goes to 6.6 seconds; at 400 it delivers 73. Nothing errors — requests are accepted and then queue, which is the worst shape for a page load and exactly what an open loop is for. Latency milliseconds, 20 s per rate after a 5 s warm-up.</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84048" cy="384048"/>
          </a:xfrm>
          <a:prstGeom prst="ellipse">
            <a:avLst/>
          </a:prstGeom>
          <a:solidFill>
            <a:srgbClr val="1C7293"/>
          </a:solidFill>
          <a:ln/>
        </p:spPr>
      </p:sp>
      <p:sp>
        <p:nvSpPr>
          <p:cNvPr id="3" name="Text 1"/>
          <p:cNvSpPr txBox="1"/>
          <p:nvPr/>
        </p:nvSpPr>
        <p:spPr>
          <a:xfrm>
            <a:off x="640080" y="420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207008" y="365760"/>
            <a:ext cx="10314432" cy="512064"/>
          </a:xfrm>
          <a:prstGeom prst="rect">
            <a:avLst/>
          </a:prstGeom>
          <a:noFill/>
          <a:ln/>
        </p:spPr>
        <p:txBody>
          <a:bodyPr wrap="square" lIns="0" tIns="0" rIns="0" bIns="0" rtlCol="0" anchor="ctr"/>
          <a:lstStyle/>
          <a:p>
            <a:pPr indent="0" marL="0">
              <a:buNone/>
            </a:pPr>
            <a:r>
              <a:rPr lang="en-US" sz="3000" b="1" dirty="0">
                <a:solidFill>
                  <a:srgbClr val="0F2A3F"/>
                </a:solidFill>
                <a:latin typeface="Cambria" pitchFamily="34" charset="0"/>
                <a:ea typeface="Cambria" pitchFamily="34" charset="-122"/>
                <a:cs typeface="Cambria" pitchFamily="34" charset="-120"/>
              </a:rPr>
              <a:t>In production</a:t>
            </a:r>
            <a:endParaRPr lang="en-US" sz="3000" dirty="0"/>
          </a:p>
        </p:txBody>
      </p:sp>
      <p:sp>
        <p:nvSpPr>
          <p:cNvPr id="5" name="Text 3"/>
          <p:cNvSpPr txBox="1"/>
          <p:nvPr/>
        </p:nvSpPr>
        <p:spPr>
          <a:xfrm>
            <a:off x="1207008" y="896112"/>
            <a:ext cx="10314432" cy="310896"/>
          </a:xfrm>
          <a:prstGeom prst="rect">
            <a:avLst/>
          </a:prstGeom>
          <a:noFill/>
          <a:ln/>
        </p:spPr>
        <p:txBody>
          <a:bodyPr wrap="square" lIns="0" tIns="0" rIns="0" bIns="0" rtlCol="0" anchor="ctr"/>
          <a:lstStyle/>
          <a:p>
            <a:pPr indent="0" marL="0">
              <a:buNone/>
            </a:pPr>
            <a:r>
              <a:rPr lang="en-US" sz="1400" i="1" dirty="0">
                <a:solidFill>
                  <a:srgbClr val="5A6B78"/>
                </a:solidFill>
                <a:latin typeface="Calibri" pitchFamily="34" charset="0"/>
                <a:ea typeface="Calibri" pitchFamily="34" charset="-122"/>
                <a:cs typeface="Calibri" pitchFamily="34" charset="-120"/>
              </a:rPr>
              <a:t>What happens when something breaks.</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572768"/>
          <a:ext cx="10881360" cy="914400"/>
        </p:xfrm>
        <a:graphic>
          <a:graphicData uri="http://schemas.openxmlformats.org/drawingml/2006/table">
            <a:tbl>
              <a:tblPr/>
              <a:tblGrid>
                <a:gridCol w="4206240"/>
                <a:gridCol w="6675120"/>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Failure</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F2A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Behaviour</a:t>
                      </a:r>
                      <a:endParaRPr lang="en-US" sz="120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solidFill>
                      <a:srgbClr val="0F2A3F"/>
                    </a:solidFill>
                  </a:tcPr>
                </a:tc>
              </a:tr>
              <a:tr h="402336">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TabPFN unreachable at serve time</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degrade to catboost_fallback, tag the response, keep answering</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r>
              <a:tr h="402336">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TabPFN unreachable at train time</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fail the run loudly — the current champion keeps serving</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r>
              <a:tr h="402336">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A weekly retrain fails</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the scheduler survives, the alias does not move, next week retries</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r>
              <a:tr h="402336">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A worker cannot load its model</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/readyz stays 503 so the balancer skips it; /healthz stays green</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r>
              <a:tr h="402336">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Sparse or malformed request</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422 with an empty ranking; the funnel falls back to its static order</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r>
              <a:tr h="402336">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Unseen brand, campaign or city</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c>
                  <a:txBody>
                    <a:bodyPr/>
                    <a:lstStyle/>
                    <a:p>
                      <a:pPr indent="0" marL="0">
                        <a:buNone/>
                      </a:pPr>
                      <a:r>
                        <a:rPr lang="en-US" sz="1250" dirty="0">
                          <a:solidFill>
                            <a:srgbClr val="2B3A44"/>
                          </a:solidFill>
                          <a:latin typeface="Calibri" pitchFamily="34" charset="0"/>
                          <a:ea typeface="Calibri" pitchFamily="34" charset="-122"/>
                          <a:cs typeface="Calibri" pitchFamily="34" charset="-120"/>
                        </a:rPr>
                        <a:t>scored normally — a new campaign must never be an outage</a:t>
                      </a:r>
                      <a:endParaRPr lang="en-US" sz="1250" dirty="0">
                        <a:latin typeface="Calibri" charset="0"/>
                        <a:ea typeface="Calibri" charset="0"/>
                        <a:cs typeface="Calibri" charset="0"/>
                      </a:endParaRPr>
                    </a:p>
                  </a:txBody>
                  <a:tcPr marL="91440" marR="91440" marT="45720" marB="45720" anchor="ctr">
                    <a:lnL w="6350" cap="flat" cmpd="sng" algn="ctr">
                      <a:solidFill>
                        <a:srgbClr val="DDE5EA"/>
                      </a:solidFill>
                      <a:prstDash val="solid"/>
                      <a:round/>
                      <a:headEnd type="none" w="med" len="med"/>
                      <a:tailEnd type="none" w="med" len="med"/>
                    </a:lnL>
                    <a:lnR w="6350" cap="flat" cmpd="sng" algn="ctr">
                      <a:solidFill>
                        <a:srgbClr val="DDE5EA"/>
                      </a:solidFill>
                      <a:prstDash val="solid"/>
                      <a:round/>
                      <a:headEnd type="none" w="med" len="med"/>
                      <a:tailEnd type="none" w="med" len="med"/>
                    </a:lnR>
                    <a:lnT w="6350" cap="flat" cmpd="sng" algn="ctr">
                      <a:solidFill>
                        <a:srgbClr val="DDE5EA"/>
                      </a:solidFill>
                      <a:prstDash val="solid"/>
                      <a:round/>
                      <a:headEnd type="none" w="med" len="med"/>
                      <a:tailEnd type="none" w="med" len="med"/>
                    </a:lnT>
                    <a:lnB w="6350" cap="flat" cmpd="sng" algn="ctr">
                      <a:solidFill>
                        <a:srgbClr val="DDE5EA"/>
                      </a:solidFill>
                      <a:prstDash val="solid"/>
                      <a:round/>
                      <a:headEnd type="none" w="med" len="med"/>
                      <a:tailEnd type="none" w="med" len="med"/>
                    </a:lnB>
                  </a:tcPr>
                </a:tc>
              </a:tr>
            </a:tbl>
          </a:graphicData>
        </a:graphic>
      </p:graphicFrame>
      <p:sp>
        <p:nvSpPr>
          <p:cNvPr id="7" name="Text 4"/>
          <p:cNvSpPr txBox="1"/>
          <p:nvPr/>
        </p:nvSpPr>
        <p:spPr>
          <a:xfrm>
            <a:off x="640080" y="4480560"/>
            <a:ext cx="5303520" cy="310896"/>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Warm-up is enforced, not hoped for</a:t>
            </a:r>
            <a:endParaRPr lang="en-US" sz="1300" dirty="0"/>
          </a:p>
        </p:txBody>
      </p:sp>
      <p:sp>
        <p:nvSpPr>
          <p:cNvPr id="8" name="Text 5"/>
          <p:cNvSpPr txBox="1"/>
          <p:nvPr/>
        </p:nvSpPr>
        <p:spPr>
          <a:xfrm>
            <a:off x="640080" y="4828032"/>
            <a:ext cx="5303520" cy="1188720"/>
          </a:xfrm>
          <a:prstGeom prst="rect">
            <a:avLst/>
          </a:prstGeom>
          <a:noFill/>
          <a:ln/>
        </p:spPr>
        <p:txBody>
          <a:bodyPr wrap="square" lIns="0" tIns="0" rIns="0" bIns="0" rtlCol="0" anchor="ctr"/>
          <a:lstStyle/>
          <a:p>
            <a:pPr indent="0" marL="0">
              <a:lnSpc>
                <a:spcPts val="1800"/>
              </a:lnSpc>
              <a:buNone/>
            </a:pPr>
            <a:r>
              <a:rPr lang="en-US" sz="1250" dirty="0">
                <a:solidFill>
                  <a:srgbClr val="2B3A44"/>
                </a:solidFill>
                <a:latin typeface="Calibri" pitchFamily="34" charset="0"/>
                <a:ea typeface="Calibri" pitchFamily="34" charset="-122"/>
                <a:cs typeface="Calibri" pitchFamily="34" charset="-120"/>
              </a:rPr>
              <a:t>/readyz turns green only after a real synthetic scoring call has succeeded inside that worker, so the first user never pays the model load. The Databricks endpoint sets scale_to_zero_enabled: false for the same reason.</a:t>
            </a:r>
            <a:endParaRPr lang="en-US" sz="1250" dirty="0"/>
          </a:p>
        </p:txBody>
      </p:sp>
      <p:sp>
        <p:nvSpPr>
          <p:cNvPr id="9" name="Text 6"/>
          <p:cNvSpPr txBox="1"/>
          <p:nvPr/>
        </p:nvSpPr>
        <p:spPr>
          <a:xfrm>
            <a:off x="6492240" y="4480560"/>
            <a:ext cx="5029200" cy="310896"/>
          </a:xfrm>
          <a:prstGeom prst="rect">
            <a:avLst/>
          </a:prstGeom>
          <a:noFill/>
          <a:ln/>
        </p:spPr>
        <p:txBody>
          <a:bodyPr wrap="square" lIns="0" tIns="0" rIns="0" bIns="0" rtlCol="0" anchor="ctr"/>
          <a:lstStyle/>
          <a:p>
            <a:pPr indent="0" marL="0">
              <a:buNone/>
            </a:pPr>
            <a:r>
              <a:rPr lang="en-US" sz="1300" b="1" dirty="0">
                <a:solidFill>
                  <a:srgbClr val="E08E45"/>
                </a:solidFill>
                <a:latin typeface="Calibri" pitchFamily="34" charset="0"/>
                <a:ea typeface="Calibri" pitchFamily="34" charset="-122"/>
                <a:cs typeface="Calibri" pitchFamily="34" charset="-120"/>
              </a:rPr>
              <a:t>Monitored</a:t>
            </a:r>
            <a:endParaRPr lang="en-US" sz="1300" dirty="0"/>
          </a:p>
        </p:txBody>
      </p:sp>
      <p:sp>
        <p:nvSpPr>
          <p:cNvPr id="10" name="Text 7"/>
          <p:cNvSpPr txBox="1"/>
          <p:nvPr/>
        </p:nvSpPr>
        <p:spPr>
          <a:xfrm>
            <a:off x="6492240" y="4828032"/>
            <a:ext cx="5029200" cy="1188720"/>
          </a:xfrm>
          <a:prstGeom prst="rect">
            <a:avLst/>
          </a:prstGeom>
          <a:noFill/>
          <a:ln/>
        </p:spPr>
        <p:txBody>
          <a:bodyPr wrap="square" rtlCol="0" anchor="t"/>
          <a:lstStyle/>
          <a:p>
            <a:pPr marL="342900" indent="-342900">
              <a:lnSpc>
                <a:spcPts val="1813"/>
              </a:lnSpc>
              <a:spcAft>
                <a:spcPts val="700"/>
              </a:spcAft>
              <a:buSzPct val="100000"/>
              <a:buChar char="•"/>
            </a:pPr>
            <a:r>
              <a:rPr lang="en-US" sz="1250" dirty="0">
                <a:solidFill>
                  <a:srgbClr val="2B3A44"/>
                </a:solidFill>
                <a:latin typeface="Calibri" pitchFamily="34" charset="0"/>
                <a:ea typeface="Calibri" pitchFamily="34" charset="-122"/>
                <a:cs typeface="Calibri" pitchFamily="34" charset="-120"/>
              </a:rPr>
              <a:t>Latency histogram and error rate by outcome</a:t>
            </a:r>
            <a:endParaRPr lang="en-US" sz="1250" dirty="0"/>
          </a:p>
          <a:p>
            <a:pPr marL="342900" indent="-342900">
              <a:lnSpc>
                <a:spcPts val="1813"/>
              </a:lnSpc>
              <a:spcAft>
                <a:spcPts val="700"/>
              </a:spcAft>
              <a:buSzPct val="100000"/>
              <a:buChar char="•"/>
            </a:pPr>
            <a:r>
              <a:rPr lang="en-US" sz="1250" dirty="0">
                <a:solidFill>
                  <a:srgbClr val="2B3A44"/>
                </a:solidFill>
                <a:latin typeface="Calibri" pitchFamily="34" charset="0"/>
                <a:ea typeface="Calibri" pitchFamily="34" charset="-122"/>
                <a:cs typeface="Calibri" pitchFamily="34" charset="-120"/>
              </a:rPr>
              <a:t>Ingest repair counters, per run</a:t>
            </a:r>
            <a:endParaRPr lang="en-US" sz="1250" dirty="0"/>
          </a:p>
          <a:p>
            <a:pPr marL="342900" indent="-342900">
              <a:lnSpc>
                <a:spcPts val="1813"/>
              </a:lnSpc>
              <a:spcAft>
                <a:spcPts val="700"/>
              </a:spcAft>
              <a:buSzPct val="100000"/>
              <a:buChar char="•"/>
            </a:pPr>
            <a:r>
              <a:rPr lang="en-US" sz="1250" dirty="0">
                <a:solidFill>
                  <a:srgbClr val="2B3A44"/>
                </a:solidFill>
                <a:latin typeface="Calibri" pitchFamily="34" charset="0"/>
                <a:ea typeface="Calibri" pitchFamily="34" charset="-122"/>
                <a:cs typeface="Calibri" pitchFamily="34" charset="-120"/>
              </a:rPr>
              <a:t>Share of rows landing on the -99 band sentinel</a:t>
            </a:r>
            <a:endParaRPr lang="en-US" sz="1250" dirty="0"/>
          </a:p>
        </p:txBody>
      </p:sp>
      <p:sp>
        <p:nvSpPr>
          <p:cNvPr id="11" name="Text 8"/>
          <p:cNvSpPr txBox="1"/>
          <p:nvPr/>
        </p:nvSpPr>
        <p:spPr>
          <a:xfrm>
            <a:off x="6492240" y="5989320"/>
            <a:ext cx="5029200" cy="548640"/>
          </a:xfrm>
          <a:prstGeom prst="rect">
            <a:avLst/>
          </a:prstGeom>
          <a:noFill/>
          <a:ln/>
        </p:spPr>
        <p:txBody>
          <a:bodyPr wrap="square" lIns="0" tIns="0" rIns="0" bIns="0" rtlCol="0" anchor="ctr"/>
          <a:lstStyle/>
          <a:p>
            <a:pPr indent="0" marL="0">
              <a:lnSpc>
                <a:spcPts val="1500"/>
              </a:lnSpc>
              <a:buNone/>
            </a:pPr>
            <a:r>
              <a:rPr lang="en-US" sz="1150" i="1" dirty="0">
                <a:solidFill>
                  <a:srgbClr val="5A6B78"/>
                </a:solidFill>
                <a:latin typeface="Calibri" pitchFamily="34" charset="0"/>
                <a:ea typeface="Calibri" pitchFamily="34" charset="-122"/>
                <a:cs typeface="Calibri" pitchFamily="34" charset="-120"/>
              </a:rPr>
              <a:t>That last one matters: a funnel copy change that renames an answer sends every user to -99 silently. It shows up as a metric before it shows up as revenue.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384048" cy="384048"/>
          </a:xfrm>
          <a:prstGeom prst="ellipse">
            <a:avLst/>
          </a:prstGeom>
          <a:solidFill>
            <a:srgbClr val="1C7293"/>
          </a:solidFill>
          <a:ln/>
        </p:spPr>
      </p:sp>
      <p:sp>
        <p:nvSpPr>
          <p:cNvPr id="3" name="Text 1"/>
          <p:cNvSpPr txBox="1"/>
          <p:nvPr/>
        </p:nvSpPr>
        <p:spPr>
          <a:xfrm>
            <a:off x="640080" y="420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207008" y="365760"/>
            <a:ext cx="10314432" cy="512064"/>
          </a:xfrm>
          <a:prstGeom prst="rect">
            <a:avLst/>
          </a:prstGeom>
          <a:noFill/>
          <a:ln/>
        </p:spPr>
        <p:txBody>
          <a:bodyPr wrap="square" lIns="0" tIns="0" rIns="0" bIns="0" rtlCol="0" anchor="ctr"/>
          <a:lstStyle/>
          <a:p>
            <a:pPr indent="0" marL="0">
              <a:buNone/>
            </a:pPr>
            <a:r>
              <a:rPr lang="en-US" sz="3000" b="1" dirty="0">
                <a:solidFill>
                  <a:srgbClr val="0F2A3F"/>
                </a:solidFill>
                <a:latin typeface="Cambria" pitchFamily="34" charset="0"/>
                <a:ea typeface="Cambria" pitchFamily="34" charset="-122"/>
                <a:cs typeface="Cambria" pitchFamily="34" charset="-120"/>
              </a:rPr>
              <a:t>Alternatives I considered and rejected</a:t>
            </a:r>
            <a:endParaRPr lang="en-US" sz="3000" dirty="0"/>
          </a:p>
        </p:txBody>
      </p:sp>
      <p:sp>
        <p:nvSpPr>
          <p:cNvPr id="5" name="Shape 3"/>
          <p:cNvSpPr/>
          <p:nvPr/>
        </p:nvSpPr>
        <p:spPr>
          <a:xfrm>
            <a:off x="640080" y="1481328"/>
            <a:ext cx="10881360" cy="694944"/>
          </a:xfrm>
          <a:prstGeom prst="roundRect">
            <a:avLst>
              <a:gd name="adj" fmla="val 5263"/>
            </a:avLst>
          </a:prstGeom>
          <a:solidFill>
            <a:srgbClr val="F4F7F9"/>
          </a:solidFill>
          <a:ln w="12700">
            <a:solidFill>
              <a:srgbClr val="F4F7F9"/>
            </a:solidFill>
            <a:prstDash val="solid"/>
          </a:ln>
        </p:spPr>
      </p:sp>
      <p:sp>
        <p:nvSpPr>
          <p:cNvPr id="6" name="Text 4"/>
          <p:cNvSpPr txBox="1"/>
          <p:nvPr/>
        </p:nvSpPr>
        <p:spPr>
          <a:xfrm>
            <a:off x="868680" y="1536192"/>
            <a:ext cx="4069080" cy="585216"/>
          </a:xfrm>
          <a:prstGeom prst="rect">
            <a:avLst/>
          </a:prstGeom>
          <a:noFill/>
          <a:ln/>
        </p:spPr>
        <p:txBody>
          <a:bodyPr wrap="square" lIns="0" tIns="0" rIns="0" bIns="0" rtlCol="0" anchor="ctr"/>
          <a:lstStyle/>
          <a:p>
            <a:pPr indent="0" marL="0">
              <a:lnSpc>
                <a:spcPts val="1600"/>
              </a:lnSpc>
              <a:buNone/>
            </a:pPr>
            <a:r>
              <a:rPr lang="en-US" sz="1250" b="1" dirty="0">
                <a:solidFill>
                  <a:srgbClr val="0F2A3F"/>
                </a:solidFill>
                <a:latin typeface="Calibri" pitchFamily="34" charset="0"/>
                <a:ea typeface="Calibri" pitchFamily="34" charset="-122"/>
                <a:cs typeface="Calibri" pitchFamily="34" charset="-120"/>
              </a:rPr>
              <a:t>Rewrite the feature engineering once and share it</a:t>
            </a:r>
            <a:endParaRPr lang="en-US" sz="1250" dirty="0"/>
          </a:p>
        </p:txBody>
      </p:sp>
      <p:sp>
        <p:nvSpPr>
          <p:cNvPr id="7" name="Text 5"/>
          <p:cNvSpPr txBox="1"/>
          <p:nvPr/>
        </p:nvSpPr>
        <p:spPr>
          <a:xfrm>
            <a:off x="5166360" y="1536192"/>
            <a:ext cx="6126480" cy="585216"/>
          </a:xfrm>
          <a:prstGeom prst="rect">
            <a:avLst/>
          </a:prstGeom>
          <a:noFill/>
          <a:ln/>
        </p:spPr>
        <p:txBody>
          <a:bodyPr wrap="square" lIns="0" tIns="0" rIns="0" bIns="0" rtlCol="0" anchor="ctr"/>
          <a:lstStyle/>
          <a:p>
            <a:pPr indent="0" marL="0">
              <a:lnSpc>
                <a:spcPts val="1500"/>
              </a:lnSpc>
              <a:buNone/>
            </a:pPr>
            <a:r>
              <a:rPr lang="en-US" sz="1200" dirty="0">
                <a:solidFill>
                  <a:srgbClr val="2B3A44"/>
                </a:solidFill>
                <a:latin typeface="Calibri" pitchFamily="34" charset="0"/>
                <a:ea typeface="Calibri" pitchFamily="34" charset="-122"/>
                <a:cs typeface="Calibri" pitchFamily="34" charset="-120"/>
              </a:rPr>
              <a:t>It is the change the brief forbids. The differential test gets most of the benefit — it proves the two agree — without the edit.</a:t>
            </a:r>
            <a:endParaRPr lang="en-US" sz="1200" dirty="0"/>
          </a:p>
        </p:txBody>
      </p:sp>
      <p:sp>
        <p:nvSpPr>
          <p:cNvPr id="8" name="Shape 6"/>
          <p:cNvSpPr/>
          <p:nvPr/>
        </p:nvSpPr>
        <p:spPr>
          <a:xfrm>
            <a:off x="640080" y="2286000"/>
            <a:ext cx="10881360" cy="694944"/>
          </a:xfrm>
          <a:prstGeom prst="roundRect">
            <a:avLst>
              <a:gd name="adj" fmla="val 5263"/>
            </a:avLst>
          </a:prstGeom>
          <a:solidFill>
            <a:srgbClr val="FFFFFF"/>
          </a:solidFill>
          <a:ln w="12700">
            <a:solidFill>
              <a:srgbClr val="EDF2F5"/>
            </a:solidFill>
            <a:prstDash val="solid"/>
          </a:ln>
        </p:spPr>
      </p:sp>
      <p:sp>
        <p:nvSpPr>
          <p:cNvPr id="9" name="Text 7"/>
          <p:cNvSpPr txBox="1"/>
          <p:nvPr/>
        </p:nvSpPr>
        <p:spPr>
          <a:xfrm>
            <a:off x="868680" y="2340864"/>
            <a:ext cx="4069080" cy="585216"/>
          </a:xfrm>
          <a:prstGeom prst="rect">
            <a:avLst/>
          </a:prstGeom>
          <a:noFill/>
          <a:ln/>
        </p:spPr>
        <p:txBody>
          <a:bodyPr wrap="square" lIns="0" tIns="0" rIns="0" bIns="0" rtlCol="0" anchor="ctr"/>
          <a:lstStyle/>
          <a:p>
            <a:pPr indent="0" marL="0">
              <a:lnSpc>
                <a:spcPts val="1600"/>
              </a:lnSpc>
              <a:buNone/>
            </a:pPr>
            <a:r>
              <a:rPr lang="en-US" sz="1250" b="1" dirty="0">
                <a:solidFill>
                  <a:srgbClr val="0F2A3F"/>
                </a:solidFill>
                <a:latin typeface="Calibri" pitchFamily="34" charset="0"/>
                <a:ea typeface="Calibri" pitchFamily="34" charset="-122"/>
                <a:cs typeface="Calibri" pitchFamily="34" charset="-120"/>
              </a:rPr>
              <a:t>Keep the models warm and leave the pipeline alone</a:t>
            </a:r>
            <a:endParaRPr lang="en-US" sz="1250" dirty="0"/>
          </a:p>
        </p:txBody>
      </p:sp>
      <p:sp>
        <p:nvSpPr>
          <p:cNvPr id="10" name="Text 8"/>
          <p:cNvSpPr txBox="1"/>
          <p:nvPr/>
        </p:nvSpPr>
        <p:spPr>
          <a:xfrm>
            <a:off x="5166360" y="2340864"/>
            <a:ext cx="6126480" cy="585216"/>
          </a:xfrm>
          <a:prstGeom prst="rect">
            <a:avLst/>
          </a:prstGeom>
          <a:noFill/>
          <a:ln/>
        </p:spPr>
        <p:txBody>
          <a:bodyPr wrap="square" lIns="0" tIns="0" rIns="0" bIns="0" rtlCol="0" anchor="ctr"/>
          <a:lstStyle/>
          <a:p>
            <a:pPr indent="0" marL="0">
              <a:lnSpc>
                <a:spcPts val="1500"/>
              </a:lnSpc>
              <a:buNone/>
            </a:pPr>
            <a:r>
              <a:rPr lang="en-US" sz="1200" dirty="0">
                <a:solidFill>
                  <a:srgbClr val="2B3A44"/>
                </a:solidFill>
                <a:latin typeface="Calibri" pitchFamily="34" charset="0"/>
                <a:ea typeface="Calibri" pitchFamily="34" charset="-122"/>
                <a:cs typeface="Calibri" pitchFamily="34" charset="-120"/>
              </a:rPr>
              <a:t>This was the first version. Warm models remove the per-request load, and what remains is still 60 ms of pandas. Good, and not enough for a page load.</a:t>
            </a:r>
            <a:endParaRPr lang="en-US" sz="1200" dirty="0"/>
          </a:p>
        </p:txBody>
      </p:sp>
      <p:sp>
        <p:nvSpPr>
          <p:cNvPr id="11" name="Shape 9"/>
          <p:cNvSpPr/>
          <p:nvPr/>
        </p:nvSpPr>
        <p:spPr>
          <a:xfrm>
            <a:off x="640080" y="3090672"/>
            <a:ext cx="10881360" cy="694944"/>
          </a:xfrm>
          <a:prstGeom prst="roundRect">
            <a:avLst>
              <a:gd name="adj" fmla="val 5263"/>
            </a:avLst>
          </a:prstGeom>
          <a:solidFill>
            <a:srgbClr val="F4F7F9"/>
          </a:solidFill>
          <a:ln w="12700">
            <a:solidFill>
              <a:srgbClr val="F4F7F9"/>
            </a:solidFill>
            <a:prstDash val="solid"/>
          </a:ln>
        </p:spPr>
      </p:sp>
      <p:sp>
        <p:nvSpPr>
          <p:cNvPr id="12" name="Text 10"/>
          <p:cNvSpPr txBox="1"/>
          <p:nvPr/>
        </p:nvSpPr>
        <p:spPr>
          <a:xfrm>
            <a:off x="868680" y="3145536"/>
            <a:ext cx="4069080" cy="585216"/>
          </a:xfrm>
          <a:prstGeom prst="rect">
            <a:avLst/>
          </a:prstGeom>
          <a:noFill/>
          <a:ln/>
        </p:spPr>
        <p:txBody>
          <a:bodyPr wrap="square" lIns="0" tIns="0" rIns="0" bIns="0" rtlCol="0" anchor="ctr"/>
          <a:lstStyle/>
          <a:p>
            <a:pPr indent="0" marL="0">
              <a:lnSpc>
                <a:spcPts val="1600"/>
              </a:lnSpc>
              <a:buNone/>
            </a:pPr>
            <a:r>
              <a:rPr lang="en-US" sz="1250" b="1" dirty="0">
                <a:solidFill>
                  <a:srgbClr val="0F2A3F"/>
                </a:solidFill>
                <a:latin typeface="Calibri" pitchFamily="34" charset="0"/>
                <a:ea typeface="Calibri" pitchFamily="34" charset="-122"/>
                <a:cs typeface="Calibri" pitchFamily="34" charset="-120"/>
              </a:rPr>
              <a:t>Reduce TabPFN's n_estimators</a:t>
            </a:r>
            <a:endParaRPr lang="en-US" sz="1250" dirty="0"/>
          </a:p>
        </p:txBody>
      </p:sp>
      <p:sp>
        <p:nvSpPr>
          <p:cNvPr id="13" name="Text 11"/>
          <p:cNvSpPr txBox="1"/>
          <p:nvPr/>
        </p:nvSpPr>
        <p:spPr>
          <a:xfrm>
            <a:off x="5166360" y="3145536"/>
            <a:ext cx="6126480" cy="585216"/>
          </a:xfrm>
          <a:prstGeom prst="rect">
            <a:avLst/>
          </a:prstGeom>
          <a:noFill/>
          <a:ln/>
        </p:spPr>
        <p:txBody>
          <a:bodyPr wrap="square" lIns="0" tIns="0" rIns="0" bIns="0" rtlCol="0" anchor="ctr"/>
          <a:lstStyle/>
          <a:p>
            <a:pPr indent="0" marL="0">
              <a:lnSpc>
                <a:spcPts val="1500"/>
              </a:lnSpc>
              <a:buNone/>
            </a:pPr>
            <a:r>
              <a:rPr lang="en-US" sz="1200" dirty="0">
                <a:solidFill>
                  <a:srgbClr val="2B3A44"/>
                </a:solidFill>
                <a:latin typeface="Calibri" pitchFamily="34" charset="0"/>
                <a:ea typeface="Calibri" pitchFamily="34" charset="-122"/>
                <a:cs typeface="Calibri" pitchFamily="34" charset="-120"/>
              </a:rPr>
              <a:t>Cheap and tempting. Measured, it reorders brands — and brand order is the output that matters. Configurable, not a silent default.</a:t>
            </a:r>
            <a:endParaRPr lang="en-US" sz="1200" dirty="0"/>
          </a:p>
        </p:txBody>
      </p:sp>
      <p:sp>
        <p:nvSpPr>
          <p:cNvPr id="14" name="Shape 12"/>
          <p:cNvSpPr/>
          <p:nvPr/>
        </p:nvSpPr>
        <p:spPr>
          <a:xfrm>
            <a:off x="640080" y="3895344"/>
            <a:ext cx="10881360" cy="694944"/>
          </a:xfrm>
          <a:prstGeom prst="roundRect">
            <a:avLst>
              <a:gd name="adj" fmla="val 5263"/>
            </a:avLst>
          </a:prstGeom>
          <a:solidFill>
            <a:srgbClr val="FFFFFF"/>
          </a:solidFill>
          <a:ln w="12700">
            <a:solidFill>
              <a:srgbClr val="EDF2F5"/>
            </a:solidFill>
            <a:prstDash val="solid"/>
          </a:ln>
        </p:spPr>
      </p:sp>
      <p:sp>
        <p:nvSpPr>
          <p:cNvPr id="15" name="Text 13"/>
          <p:cNvSpPr txBox="1"/>
          <p:nvPr/>
        </p:nvSpPr>
        <p:spPr>
          <a:xfrm>
            <a:off x="868680" y="3950208"/>
            <a:ext cx="4069080" cy="585216"/>
          </a:xfrm>
          <a:prstGeom prst="rect">
            <a:avLst/>
          </a:prstGeom>
          <a:noFill/>
          <a:ln/>
        </p:spPr>
        <p:txBody>
          <a:bodyPr wrap="square" lIns="0" tIns="0" rIns="0" bIns="0" rtlCol="0" anchor="ctr"/>
          <a:lstStyle/>
          <a:p>
            <a:pPr indent="0" marL="0">
              <a:lnSpc>
                <a:spcPts val="1600"/>
              </a:lnSpc>
              <a:buNone/>
            </a:pPr>
            <a:r>
              <a:rPr lang="en-US" sz="1250" b="1" dirty="0">
                <a:solidFill>
                  <a:srgbClr val="0F2A3F"/>
                </a:solidFill>
                <a:latin typeface="Calibri" pitchFamily="34" charset="0"/>
                <a:ea typeface="Calibri" pitchFamily="34" charset="-122"/>
                <a:cs typeface="Calibri" pitchFamily="34" charset="-120"/>
              </a:rPr>
              <a:t>Preload names-dataset and fork workers to share it</a:t>
            </a:r>
            <a:endParaRPr lang="en-US" sz="1250" dirty="0"/>
          </a:p>
        </p:txBody>
      </p:sp>
      <p:sp>
        <p:nvSpPr>
          <p:cNvPr id="16" name="Text 14"/>
          <p:cNvSpPr txBox="1"/>
          <p:nvPr/>
        </p:nvSpPr>
        <p:spPr>
          <a:xfrm>
            <a:off x="5166360" y="3950208"/>
            <a:ext cx="6126480" cy="585216"/>
          </a:xfrm>
          <a:prstGeom prst="rect">
            <a:avLst/>
          </a:prstGeom>
          <a:noFill/>
          <a:ln/>
        </p:spPr>
        <p:txBody>
          <a:bodyPr wrap="square" lIns="0" tIns="0" rIns="0" bIns="0" rtlCol="0" anchor="ctr"/>
          <a:lstStyle/>
          <a:p>
            <a:pPr indent="0" marL="0">
              <a:lnSpc>
                <a:spcPts val="1500"/>
              </a:lnSpc>
              <a:buNone/>
            </a:pPr>
            <a:r>
              <a:rPr lang="en-US" sz="1200" dirty="0">
                <a:solidFill>
                  <a:srgbClr val="2B3A44"/>
                </a:solidFill>
                <a:latin typeface="Calibri" pitchFamily="34" charset="0"/>
                <a:ea typeface="Calibri" pitchFamily="34" charset="-122"/>
                <a:cs typeface="Calibri" pitchFamily="34" charset="-120"/>
              </a:rPr>
              <a:t>A workaround for a cost that can be removed entirely. The 4 MB table makes the library unnecessary.</a:t>
            </a:r>
            <a:endParaRPr lang="en-US" sz="1200" dirty="0"/>
          </a:p>
        </p:txBody>
      </p:sp>
      <p:sp>
        <p:nvSpPr>
          <p:cNvPr id="17" name="Shape 15"/>
          <p:cNvSpPr/>
          <p:nvPr/>
        </p:nvSpPr>
        <p:spPr>
          <a:xfrm>
            <a:off x="640080" y="4700016"/>
            <a:ext cx="10881360" cy="694944"/>
          </a:xfrm>
          <a:prstGeom prst="roundRect">
            <a:avLst>
              <a:gd name="adj" fmla="val 5263"/>
            </a:avLst>
          </a:prstGeom>
          <a:solidFill>
            <a:srgbClr val="F4F7F9"/>
          </a:solidFill>
          <a:ln w="12700">
            <a:solidFill>
              <a:srgbClr val="F4F7F9"/>
            </a:solidFill>
            <a:prstDash val="solid"/>
          </a:ln>
        </p:spPr>
      </p:sp>
      <p:sp>
        <p:nvSpPr>
          <p:cNvPr id="18" name="Text 16"/>
          <p:cNvSpPr txBox="1"/>
          <p:nvPr/>
        </p:nvSpPr>
        <p:spPr>
          <a:xfrm>
            <a:off x="868680" y="4754880"/>
            <a:ext cx="4069080" cy="585216"/>
          </a:xfrm>
          <a:prstGeom prst="rect">
            <a:avLst/>
          </a:prstGeom>
          <a:noFill/>
          <a:ln/>
        </p:spPr>
        <p:txBody>
          <a:bodyPr wrap="square" lIns="0" tIns="0" rIns="0" bIns="0" rtlCol="0" anchor="ctr"/>
          <a:lstStyle/>
          <a:p>
            <a:pPr indent="0" marL="0">
              <a:lnSpc>
                <a:spcPts val="1600"/>
              </a:lnSpc>
              <a:buNone/>
            </a:pPr>
            <a:r>
              <a:rPr lang="en-US" sz="1250" b="1" dirty="0">
                <a:solidFill>
                  <a:srgbClr val="0F2A3F"/>
                </a:solidFill>
                <a:latin typeface="Calibri" pitchFamily="34" charset="0"/>
                <a:ea typeface="Calibri" pitchFamily="34" charset="-122"/>
                <a:cs typeface="Calibri" pitchFamily="34" charset="-120"/>
              </a:rPr>
              <a:t>Serve the MLflow pyfunc directly</a:t>
            </a:r>
            <a:endParaRPr lang="en-US" sz="1250" dirty="0"/>
          </a:p>
        </p:txBody>
      </p:sp>
      <p:sp>
        <p:nvSpPr>
          <p:cNvPr id="19" name="Text 17"/>
          <p:cNvSpPr txBox="1"/>
          <p:nvPr/>
        </p:nvSpPr>
        <p:spPr>
          <a:xfrm>
            <a:off x="5166360" y="4754880"/>
            <a:ext cx="6126480" cy="585216"/>
          </a:xfrm>
          <a:prstGeom prst="rect">
            <a:avLst/>
          </a:prstGeom>
          <a:noFill/>
          <a:ln/>
        </p:spPr>
        <p:txBody>
          <a:bodyPr wrap="square" lIns="0" tIns="0" rIns="0" bIns="0" rtlCol="0" anchor="ctr"/>
          <a:lstStyle/>
          <a:p>
            <a:pPr indent="0" marL="0">
              <a:lnSpc>
                <a:spcPts val="1500"/>
              </a:lnSpc>
              <a:buNone/>
            </a:pPr>
            <a:r>
              <a:rPr lang="en-US" sz="1200" dirty="0">
                <a:solidFill>
                  <a:srgbClr val="2B3A44"/>
                </a:solidFill>
                <a:latin typeface="Calibri" pitchFamily="34" charset="0"/>
                <a:ea typeface="Calibri" pitchFamily="34" charset="-122"/>
                <a:cs typeface="Calibri" pitchFamily="34" charset="-120"/>
              </a:rPr>
              <a:t>Registered with every model version, so Databricks serves that exact artifact. Not the primary local path: the funnel wants plain JSON, and readiness and a typed schema are not optional.</a:t>
            </a:r>
            <a:endParaRPr lang="en-US" sz="1200" dirty="0"/>
          </a:p>
        </p:txBody>
      </p:sp>
      <p:sp>
        <p:nvSpPr>
          <p:cNvPr id="20" name="Shape 18"/>
          <p:cNvSpPr/>
          <p:nvPr/>
        </p:nvSpPr>
        <p:spPr>
          <a:xfrm>
            <a:off x="640080" y="5504688"/>
            <a:ext cx="10881360" cy="694944"/>
          </a:xfrm>
          <a:prstGeom prst="roundRect">
            <a:avLst>
              <a:gd name="adj" fmla="val 5263"/>
            </a:avLst>
          </a:prstGeom>
          <a:solidFill>
            <a:srgbClr val="FFFFFF"/>
          </a:solidFill>
          <a:ln w="12700">
            <a:solidFill>
              <a:srgbClr val="EDF2F5"/>
            </a:solidFill>
            <a:prstDash val="solid"/>
          </a:ln>
        </p:spPr>
      </p:sp>
      <p:sp>
        <p:nvSpPr>
          <p:cNvPr id="21" name="Text 19"/>
          <p:cNvSpPr txBox="1"/>
          <p:nvPr/>
        </p:nvSpPr>
        <p:spPr>
          <a:xfrm>
            <a:off x="868680" y="5559552"/>
            <a:ext cx="4069080" cy="585216"/>
          </a:xfrm>
          <a:prstGeom prst="rect">
            <a:avLst/>
          </a:prstGeom>
          <a:noFill/>
          <a:ln/>
        </p:spPr>
        <p:txBody>
          <a:bodyPr wrap="square" lIns="0" tIns="0" rIns="0" bIns="0" rtlCol="0" anchor="ctr"/>
          <a:lstStyle/>
          <a:p>
            <a:pPr indent="0" marL="0">
              <a:lnSpc>
                <a:spcPts val="1600"/>
              </a:lnSpc>
              <a:buNone/>
            </a:pPr>
            <a:r>
              <a:rPr lang="en-US" sz="1250" b="1" dirty="0">
                <a:solidFill>
                  <a:srgbClr val="0F2A3F"/>
                </a:solidFill>
                <a:latin typeface="Calibri" pitchFamily="34" charset="0"/>
                <a:ea typeface="Calibri" pitchFamily="34" charset="-122"/>
                <a:cs typeface="Calibri" pitchFamily="34" charset="-120"/>
              </a:rPr>
              <a:t>A closed-loop load test</a:t>
            </a:r>
            <a:endParaRPr lang="en-US" sz="1250" dirty="0"/>
          </a:p>
        </p:txBody>
      </p:sp>
      <p:sp>
        <p:nvSpPr>
          <p:cNvPr id="22" name="Text 20"/>
          <p:cNvSpPr txBox="1"/>
          <p:nvPr/>
        </p:nvSpPr>
        <p:spPr>
          <a:xfrm>
            <a:off x="5166360" y="5559552"/>
            <a:ext cx="6126480" cy="585216"/>
          </a:xfrm>
          <a:prstGeom prst="rect">
            <a:avLst/>
          </a:prstGeom>
          <a:noFill/>
          <a:ln/>
        </p:spPr>
        <p:txBody>
          <a:bodyPr wrap="square" lIns="0" tIns="0" rIns="0" bIns="0" rtlCol="0" anchor="ctr"/>
          <a:lstStyle/>
          <a:p>
            <a:pPr indent="0" marL="0">
              <a:lnSpc>
                <a:spcPts val="1500"/>
              </a:lnSpc>
              <a:buNone/>
            </a:pPr>
            <a:r>
              <a:rPr lang="en-US" sz="1200" dirty="0">
                <a:solidFill>
                  <a:srgbClr val="2B3A44"/>
                </a:solidFill>
                <a:latin typeface="Calibri" pitchFamily="34" charset="0"/>
                <a:ea typeface="Calibri" pitchFamily="34" charset="-122"/>
                <a:cs typeface="Calibri" pitchFamily="34" charset="-120"/>
              </a:rPr>
              <a:t>Hides tail latency exactly when the service is struggling.</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2A3F"/>
        </a:solidFill>
      </p:bgPr>
    </p:bg>
    <p:spTree>
      <p:nvGrpSpPr>
        <p:cNvPr id="1" name=""/>
        <p:cNvGrpSpPr/>
        <p:nvPr/>
      </p:nvGrpSpPr>
      <p:grpSpPr>
        <a:xfrm>
          <a:off x="0" y="0"/>
          <a:ext cx="0" cy="0"/>
          <a:chOff x="0" y="0"/>
          <a:chExt cx="0" cy="0"/>
        </a:xfrm>
      </p:grpSpPr>
      <p:sp>
        <p:nvSpPr>
          <p:cNvPr id="2" name="Text 0"/>
          <p:cNvSpPr txBox="1"/>
          <p:nvPr/>
        </p:nvSpPr>
        <p:spPr>
          <a:xfrm>
            <a:off x="640080" y="658368"/>
            <a:ext cx="91440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I would do next</a:t>
            </a:r>
            <a:endParaRPr lang="en-US" sz="3400" dirty="0"/>
          </a:p>
        </p:txBody>
      </p:sp>
      <p:sp>
        <p:nvSpPr>
          <p:cNvPr id="3" name="Shape 1"/>
          <p:cNvSpPr/>
          <p:nvPr/>
        </p:nvSpPr>
        <p:spPr>
          <a:xfrm>
            <a:off x="640080" y="1636776"/>
            <a:ext cx="274320" cy="274320"/>
          </a:xfrm>
          <a:prstGeom prst="ellipse">
            <a:avLst/>
          </a:prstGeom>
          <a:solidFill>
            <a:srgbClr val="E08E45"/>
          </a:solidFill>
          <a:ln w="12700">
            <a:solidFill>
              <a:srgbClr val="E08E45"/>
            </a:solidFill>
            <a:prstDash val="solid"/>
          </a:ln>
        </p:spPr>
      </p:sp>
      <p:sp>
        <p:nvSpPr>
          <p:cNvPr id="4" name="Text 2"/>
          <p:cNvSpPr txBox="1"/>
          <p:nvPr/>
        </p:nvSpPr>
        <p:spPr>
          <a:xfrm>
            <a:off x="640080" y="1636776"/>
            <a:ext cx="274320" cy="274320"/>
          </a:xfrm>
          <a:prstGeom prst="rect">
            <a:avLst/>
          </a:prstGeom>
          <a:noFill/>
          <a:ln/>
        </p:spPr>
        <p:txBody>
          <a:bodyPr wrap="square" lIns="0" tIns="0" rIns="0" bIns="0" rtlCol="0" anchor="ctr"/>
          <a:lstStyle/>
          <a:p>
            <a:pPr algn="ctr" indent="0" marL="0">
              <a:buNone/>
            </a:pPr>
            <a:r>
              <a:rPr lang="en-US" sz="1200" b="1" dirty="0">
                <a:solidFill>
                  <a:srgbClr val="0F2A3F"/>
                </a:solidFill>
                <a:latin typeface="Calibri" pitchFamily="34" charset="0"/>
                <a:ea typeface="Calibri" pitchFamily="34" charset="-122"/>
                <a:cs typeface="Calibri" pitchFamily="34" charset="-120"/>
              </a:rPr>
              <a:t>1</a:t>
            </a:r>
            <a:endParaRPr lang="en-US" sz="1200" dirty="0"/>
          </a:p>
        </p:txBody>
      </p:sp>
      <p:sp>
        <p:nvSpPr>
          <p:cNvPr id="5" name="Text 3"/>
          <p:cNvSpPr txBox="1"/>
          <p:nvPr/>
        </p:nvSpPr>
        <p:spPr>
          <a:xfrm>
            <a:off x="1060704" y="1600200"/>
            <a:ext cx="4754880" cy="365760"/>
          </a:xfrm>
          <a:prstGeom prst="rect">
            <a:avLst/>
          </a:prstGeom>
          <a:noFill/>
          <a:ln/>
        </p:spPr>
        <p:txBody>
          <a:bodyPr wrap="square" lIns="0" tIns="0" rIns="0" bIns="0" rtlCol="0" anchor="ctr"/>
          <a:lstStyle/>
          <a:p>
            <a:pPr indent="0" marL="0">
              <a:buNone/>
            </a:pPr>
            <a:r>
              <a:rPr lang="en-US" sz="1500" b="1" dirty="0">
                <a:solidFill>
                  <a:srgbClr val="9FC3D4"/>
                </a:solidFill>
                <a:latin typeface="Calibri" pitchFamily="34" charset="0"/>
                <a:ea typeface="Calibri" pitchFamily="34" charset="-122"/>
                <a:cs typeface="Calibri" pitchFamily="34" charset="-120"/>
              </a:rPr>
              <a:t>Measure the ranking, not the models</a:t>
            </a:r>
            <a:endParaRPr lang="en-US" sz="1500" dirty="0"/>
          </a:p>
        </p:txBody>
      </p:sp>
      <p:sp>
        <p:nvSpPr>
          <p:cNvPr id="6" name="Text 4"/>
          <p:cNvSpPr txBox="1"/>
          <p:nvPr/>
        </p:nvSpPr>
        <p:spPr>
          <a:xfrm>
            <a:off x="1060704" y="2020824"/>
            <a:ext cx="4754880" cy="1600200"/>
          </a:xfrm>
          <a:prstGeom prst="rect">
            <a:avLst/>
          </a:prstGeom>
          <a:noFill/>
          <a:ln/>
        </p:spPr>
        <p:txBody>
          <a:bodyPr wrap="square" lIns="0" tIns="0" rIns="0" bIns="0" rtlCol="0" anchor="ctr"/>
          <a:lstStyle/>
          <a:p>
            <a:pPr indent="0" marL="0">
              <a:lnSpc>
                <a:spcPts val="1700"/>
              </a:lnSpc>
              <a:buNone/>
            </a:pPr>
            <a:r>
              <a:rPr lang="en-US" sz="1200" dirty="0">
                <a:solidFill>
                  <a:srgbClr val="C9D9E2"/>
                </a:solidFill>
                <a:latin typeface="Calibri" pitchFamily="34" charset="0"/>
                <a:ea typeface="Calibri" pitchFamily="34" charset="-122"/>
                <a:cs typeface="Calibri" pitchFamily="34" charset="-120"/>
              </a:rPr>
              <a:t>Every metric here is per model — F1 on acceptance, MAE on payout. What earns money is whether the top slot is the best brand. A replay evaluation over historical sessions, scoring realised payout of position one against the best achievable, would give a number the business recognises.</a:t>
            </a:r>
            <a:endParaRPr lang="en-US" sz="1200" dirty="0"/>
          </a:p>
        </p:txBody>
      </p:sp>
      <p:sp>
        <p:nvSpPr>
          <p:cNvPr id="7" name="Shape 5"/>
          <p:cNvSpPr/>
          <p:nvPr/>
        </p:nvSpPr>
        <p:spPr>
          <a:xfrm>
            <a:off x="6263640" y="1636776"/>
            <a:ext cx="274320" cy="274320"/>
          </a:xfrm>
          <a:prstGeom prst="ellipse">
            <a:avLst/>
          </a:prstGeom>
          <a:solidFill>
            <a:srgbClr val="E08E45"/>
          </a:solidFill>
          <a:ln w="12700">
            <a:solidFill>
              <a:srgbClr val="E08E45"/>
            </a:solidFill>
            <a:prstDash val="solid"/>
          </a:ln>
        </p:spPr>
      </p:sp>
      <p:sp>
        <p:nvSpPr>
          <p:cNvPr id="8" name="Text 6"/>
          <p:cNvSpPr txBox="1"/>
          <p:nvPr/>
        </p:nvSpPr>
        <p:spPr>
          <a:xfrm>
            <a:off x="6263640" y="1636776"/>
            <a:ext cx="274320" cy="274320"/>
          </a:xfrm>
          <a:prstGeom prst="rect">
            <a:avLst/>
          </a:prstGeom>
          <a:noFill/>
          <a:ln/>
        </p:spPr>
        <p:txBody>
          <a:bodyPr wrap="square" lIns="0" tIns="0" rIns="0" bIns="0" rtlCol="0" anchor="ctr"/>
          <a:lstStyle/>
          <a:p>
            <a:pPr algn="ctr" indent="0" marL="0">
              <a:buNone/>
            </a:pPr>
            <a:r>
              <a:rPr lang="en-US" sz="1200" b="1" dirty="0">
                <a:solidFill>
                  <a:srgbClr val="0F2A3F"/>
                </a:solidFill>
                <a:latin typeface="Calibri" pitchFamily="34" charset="0"/>
                <a:ea typeface="Calibri" pitchFamily="34" charset="-122"/>
                <a:cs typeface="Calibri" pitchFamily="34" charset="-120"/>
              </a:rPr>
              <a:t>2</a:t>
            </a:r>
            <a:endParaRPr lang="en-US" sz="1200" dirty="0"/>
          </a:p>
        </p:txBody>
      </p:sp>
      <p:sp>
        <p:nvSpPr>
          <p:cNvPr id="9" name="Text 7"/>
          <p:cNvSpPr txBox="1"/>
          <p:nvPr/>
        </p:nvSpPr>
        <p:spPr>
          <a:xfrm>
            <a:off x="6684264" y="1600200"/>
            <a:ext cx="4754880" cy="365760"/>
          </a:xfrm>
          <a:prstGeom prst="rect">
            <a:avLst/>
          </a:prstGeom>
          <a:noFill/>
          <a:ln/>
        </p:spPr>
        <p:txBody>
          <a:bodyPr wrap="square" lIns="0" tIns="0" rIns="0" bIns="0" rtlCol="0" anchor="ctr"/>
          <a:lstStyle/>
          <a:p>
            <a:pPr indent="0" marL="0">
              <a:buNone/>
            </a:pPr>
            <a:r>
              <a:rPr lang="en-US" sz="1500" b="1" dirty="0">
                <a:solidFill>
                  <a:srgbClr val="9FC3D4"/>
                </a:solidFill>
                <a:latin typeface="Calibri" pitchFamily="34" charset="0"/>
                <a:ea typeface="Calibri" pitchFamily="34" charset="-122"/>
                <a:cs typeface="Calibri" pitchFamily="34" charset="-120"/>
              </a:rPr>
              <a:t>Monitor the student against the teacher</a:t>
            </a:r>
            <a:endParaRPr lang="en-US" sz="1500" dirty="0"/>
          </a:p>
        </p:txBody>
      </p:sp>
      <p:sp>
        <p:nvSpPr>
          <p:cNvPr id="10" name="Text 8"/>
          <p:cNvSpPr txBox="1"/>
          <p:nvPr/>
        </p:nvSpPr>
        <p:spPr>
          <a:xfrm>
            <a:off x="6684264" y="2020824"/>
            <a:ext cx="4754880" cy="1600200"/>
          </a:xfrm>
          <a:prstGeom prst="rect">
            <a:avLst/>
          </a:prstGeom>
          <a:noFill/>
          <a:ln/>
        </p:spPr>
        <p:txBody>
          <a:bodyPr wrap="square" lIns="0" tIns="0" rIns="0" bIns="0" rtlCol="0" anchor="ctr"/>
          <a:lstStyle/>
          <a:p>
            <a:pPr indent="0" marL="0">
              <a:lnSpc>
                <a:spcPts val="1700"/>
              </a:lnSpc>
              <a:buNone/>
            </a:pPr>
            <a:r>
              <a:rPr lang="en-US" sz="1200" dirty="0">
                <a:solidFill>
                  <a:srgbClr val="C9D9E2"/>
                </a:solidFill>
                <a:latin typeface="Calibri" pitchFamily="34" charset="0"/>
                <a:ea typeface="Calibri" pitchFamily="34" charset="-122"/>
                <a:cs typeface="Calibri" pitchFamily="34" charset="-120"/>
              </a:rPr>
              <a:t>Log a sample of production requests, score them with TabPFN offline, alert on divergence and on top-1 disagreement. Fidelity is measured at training time today; it should be watched continuously.</a:t>
            </a:r>
            <a:endParaRPr lang="en-US" sz="1200" dirty="0"/>
          </a:p>
        </p:txBody>
      </p:sp>
      <p:sp>
        <p:nvSpPr>
          <p:cNvPr id="11" name="Shape 9"/>
          <p:cNvSpPr/>
          <p:nvPr/>
        </p:nvSpPr>
        <p:spPr>
          <a:xfrm>
            <a:off x="640080" y="3922776"/>
            <a:ext cx="274320" cy="274320"/>
          </a:xfrm>
          <a:prstGeom prst="ellipse">
            <a:avLst/>
          </a:prstGeom>
          <a:solidFill>
            <a:srgbClr val="E08E45"/>
          </a:solidFill>
          <a:ln w="12700">
            <a:solidFill>
              <a:srgbClr val="E08E45"/>
            </a:solidFill>
            <a:prstDash val="solid"/>
          </a:ln>
        </p:spPr>
      </p:sp>
      <p:sp>
        <p:nvSpPr>
          <p:cNvPr id="12" name="Text 10"/>
          <p:cNvSpPr txBox="1"/>
          <p:nvPr/>
        </p:nvSpPr>
        <p:spPr>
          <a:xfrm>
            <a:off x="640080" y="3922776"/>
            <a:ext cx="274320" cy="274320"/>
          </a:xfrm>
          <a:prstGeom prst="rect">
            <a:avLst/>
          </a:prstGeom>
          <a:noFill/>
          <a:ln/>
        </p:spPr>
        <p:txBody>
          <a:bodyPr wrap="square" lIns="0" tIns="0" rIns="0" bIns="0" rtlCol="0" anchor="ctr"/>
          <a:lstStyle/>
          <a:p>
            <a:pPr algn="ctr" indent="0" marL="0">
              <a:buNone/>
            </a:pPr>
            <a:r>
              <a:rPr lang="en-US" sz="1200" b="1" dirty="0">
                <a:solidFill>
                  <a:srgbClr val="0F2A3F"/>
                </a:solidFill>
                <a:latin typeface="Calibri" pitchFamily="34" charset="0"/>
                <a:ea typeface="Calibri" pitchFamily="34" charset="-122"/>
                <a:cs typeface="Calibri" pitchFamily="34" charset="-120"/>
              </a:rPr>
              <a:t>3</a:t>
            </a:r>
            <a:endParaRPr lang="en-US" sz="1200" dirty="0"/>
          </a:p>
        </p:txBody>
      </p:sp>
      <p:sp>
        <p:nvSpPr>
          <p:cNvPr id="13" name="Text 11"/>
          <p:cNvSpPr txBox="1"/>
          <p:nvPr/>
        </p:nvSpPr>
        <p:spPr>
          <a:xfrm>
            <a:off x="1060704" y="3886200"/>
            <a:ext cx="4754880" cy="365760"/>
          </a:xfrm>
          <a:prstGeom prst="rect">
            <a:avLst/>
          </a:prstGeom>
          <a:noFill/>
          <a:ln/>
        </p:spPr>
        <p:txBody>
          <a:bodyPr wrap="square" lIns="0" tIns="0" rIns="0" bIns="0" rtlCol="0" anchor="ctr"/>
          <a:lstStyle/>
          <a:p>
            <a:pPr indent="0" marL="0">
              <a:buNone/>
            </a:pPr>
            <a:r>
              <a:rPr lang="en-US" sz="1500" b="1" dirty="0">
                <a:solidFill>
                  <a:srgbClr val="9FC3D4"/>
                </a:solidFill>
                <a:latin typeface="Calibri" pitchFamily="34" charset="0"/>
                <a:ea typeface="Calibri" pitchFamily="34" charset="-122"/>
                <a:cs typeface="Calibri" pitchFamily="34" charset="-120"/>
              </a:rPr>
              <a:t>Challenger traffic</a:t>
            </a:r>
            <a:endParaRPr lang="en-US" sz="1500" dirty="0"/>
          </a:p>
        </p:txBody>
      </p:sp>
      <p:sp>
        <p:nvSpPr>
          <p:cNvPr id="14" name="Text 12"/>
          <p:cNvSpPr txBox="1"/>
          <p:nvPr/>
        </p:nvSpPr>
        <p:spPr>
          <a:xfrm>
            <a:off x="1060704" y="4306824"/>
            <a:ext cx="4754880" cy="1600200"/>
          </a:xfrm>
          <a:prstGeom prst="rect">
            <a:avLst/>
          </a:prstGeom>
          <a:noFill/>
          <a:ln/>
        </p:spPr>
        <p:txBody>
          <a:bodyPr wrap="square" lIns="0" tIns="0" rIns="0" bIns="0" rtlCol="0" anchor="ctr"/>
          <a:lstStyle/>
          <a:p>
            <a:pPr indent="0" marL="0">
              <a:lnSpc>
                <a:spcPts val="1700"/>
              </a:lnSpc>
              <a:buNone/>
            </a:pPr>
            <a:r>
              <a:rPr lang="en-US" sz="1200" dirty="0">
                <a:solidFill>
                  <a:srgbClr val="C9D9E2"/>
                </a:solidFill>
                <a:latin typeface="Calibri" pitchFamily="34" charset="0"/>
                <a:ea typeface="Calibri" pitchFamily="34" charset="-122"/>
                <a:cs typeface="Calibri" pitchFamily="34" charset="-120"/>
              </a:rPr>
              <a:t>The alias mechanism already supports champion and challenger. A small split with realised-payout comparison turns the weekly retrain from hope into a decision.</a:t>
            </a:r>
            <a:endParaRPr lang="en-US" sz="1200" dirty="0"/>
          </a:p>
        </p:txBody>
      </p:sp>
      <p:sp>
        <p:nvSpPr>
          <p:cNvPr id="15" name="Shape 13"/>
          <p:cNvSpPr/>
          <p:nvPr/>
        </p:nvSpPr>
        <p:spPr>
          <a:xfrm>
            <a:off x="6263640" y="3922776"/>
            <a:ext cx="274320" cy="274320"/>
          </a:xfrm>
          <a:prstGeom prst="ellipse">
            <a:avLst/>
          </a:prstGeom>
          <a:solidFill>
            <a:srgbClr val="E08E45"/>
          </a:solidFill>
          <a:ln w="12700">
            <a:solidFill>
              <a:srgbClr val="E08E45"/>
            </a:solidFill>
            <a:prstDash val="solid"/>
          </a:ln>
        </p:spPr>
      </p:sp>
      <p:sp>
        <p:nvSpPr>
          <p:cNvPr id="16" name="Text 14"/>
          <p:cNvSpPr txBox="1"/>
          <p:nvPr/>
        </p:nvSpPr>
        <p:spPr>
          <a:xfrm>
            <a:off x="6263640" y="3922776"/>
            <a:ext cx="274320" cy="274320"/>
          </a:xfrm>
          <a:prstGeom prst="rect">
            <a:avLst/>
          </a:prstGeom>
          <a:noFill/>
          <a:ln/>
        </p:spPr>
        <p:txBody>
          <a:bodyPr wrap="square" lIns="0" tIns="0" rIns="0" bIns="0" rtlCol="0" anchor="ctr"/>
          <a:lstStyle/>
          <a:p>
            <a:pPr algn="ctr" indent="0" marL="0">
              <a:buNone/>
            </a:pPr>
            <a:r>
              <a:rPr lang="en-US" sz="1200" b="1" dirty="0">
                <a:solidFill>
                  <a:srgbClr val="0F2A3F"/>
                </a:solidFill>
                <a:latin typeface="Calibri" pitchFamily="34" charset="0"/>
                <a:ea typeface="Calibri" pitchFamily="34" charset="-122"/>
                <a:cs typeface="Calibri" pitchFamily="34" charset="-120"/>
              </a:rPr>
              <a:t>4</a:t>
            </a:r>
            <a:endParaRPr lang="en-US" sz="1200" dirty="0"/>
          </a:p>
        </p:txBody>
      </p:sp>
      <p:sp>
        <p:nvSpPr>
          <p:cNvPr id="17" name="Text 15"/>
          <p:cNvSpPr txBox="1"/>
          <p:nvPr/>
        </p:nvSpPr>
        <p:spPr>
          <a:xfrm>
            <a:off x="6684264" y="3886200"/>
            <a:ext cx="4754880" cy="365760"/>
          </a:xfrm>
          <a:prstGeom prst="rect">
            <a:avLst/>
          </a:prstGeom>
          <a:noFill/>
          <a:ln/>
        </p:spPr>
        <p:txBody>
          <a:bodyPr wrap="square" lIns="0" tIns="0" rIns="0" bIns="0" rtlCol="0" anchor="ctr"/>
          <a:lstStyle/>
          <a:p>
            <a:pPr indent="0" marL="0">
              <a:buNone/>
            </a:pPr>
            <a:r>
              <a:rPr lang="en-US" sz="1500" b="1" dirty="0">
                <a:solidFill>
                  <a:srgbClr val="9FC3D4"/>
                </a:solidFill>
                <a:latin typeface="Calibri" pitchFamily="34" charset="0"/>
                <a:ea typeface="Calibri" pitchFamily="34" charset="-122"/>
                <a:cs typeface="Calibri" pitchFamily="34" charset="-120"/>
              </a:rPr>
              <a:t>Assert the feature contract at start-up</a:t>
            </a:r>
            <a:endParaRPr lang="en-US" sz="1500" dirty="0"/>
          </a:p>
        </p:txBody>
      </p:sp>
      <p:sp>
        <p:nvSpPr>
          <p:cNvPr id="18" name="Text 16"/>
          <p:cNvSpPr txBox="1"/>
          <p:nvPr/>
        </p:nvSpPr>
        <p:spPr>
          <a:xfrm>
            <a:off x="6684264" y="4306824"/>
            <a:ext cx="4754880" cy="1600200"/>
          </a:xfrm>
          <a:prstGeom prst="rect">
            <a:avLst/>
          </a:prstGeom>
          <a:noFill/>
          <a:ln/>
        </p:spPr>
        <p:txBody>
          <a:bodyPr wrap="square" lIns="0" tIns="0" rIns="0" bIns="0" rtlCol="0" anchor="ctr"/>
          <a:lstStyle/>
          <a:p>
            <a:pPr indent="0" marL="0">
              <a:lnSpc>
                <a:spcPts val="1700"/>
              </a:lnSpc>
              <a:buNone/>
            </a:pPr>
            <a:r>
              <a:rPr lang="en-US" sz="1200" dirty="0">
                <a:solidFill>
                  <a:srgbClr val="C9D9E2"/>
                </a:solidFill>
                <a:latin typeface="Calibri" pitchFamily="34" charset="0"/>
                <a:ea typeface="Calibri" pitchFamily="34" charset="-122"/>
                <a:cs typeface="Calibri" pitchFamily="34" charset="-120"/>
              </a:rPr>
              <a:t>The bundle knows which columns were categorical and what dtypes they had at fit time. A worker should check its own frame reproduces them before reporting ready — that would have caught the sub1 skew automatically.</a:t>
            </a:r>
            <a:endParaRPr lang="en-US" sz="1200" dirty="0"/>
          </a:p>
        </p:txBody>
      </p:sp>
      <p:sp>
        <p:nvSpPr>
          <p:cNvPr id="19" name="Text 17"/>
          <p:cNvSpPr txBox="1"/>
          <p:nvPr/>
        </p:nvSpPr>
        <p:spPr>
          <a:xfrm>
            <a:off x="640080" y="6172200"/>
            <a:ext cx="10881360" cy="365760"/>
          </a:xfrm>
          <a:prstGeom prst="rect">
            <a:avLst/>
          </a:prstGeom>
          <a:noFill/>
          <a:ln/>
        </p:spPr>
        <p:txBody>
          <a:bodyPr wrap="square" lIns="0" tIns="0" rIns="0" bIns="0" rtlCol="0" anchor="ctr"/>
          <a:lstStyle/>
          <a:p>
            <a:pPr indent="0" marL="0">
              <a:buNone/>
            </a:pPr>
            <a:r>
              <a:rPr lang="en-US" sz="1200" dirty="0">
                <a:solidFill>
                  <a:srgbClr val="7C97A6"/>
                </a:solidFill>
                <a:latin typeface="Calibri" pitchFamily="34" charset="0"/>
                <a:ea typeface="Calibri" pitchFamily="34" charset="-122"/>
                <a:cs typeface="Calibri" pitchFamily="34" charset="-120"/>
              </a:rPr>
              <a:t>Repository:  README.md for how to run it · docs/design.md for the long form · docs/load-test.md for the latency method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Business Loans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Productizing the BL ranking pipeline</dc:title>
  <dc:subject>Productizing the brand-ranking pipeline</dc:subject>
  <dc:creator>Business Loans brand ranking</dc:creator>
  <cp:lastModifiedBy>Business Loans brand ranking</cp:lastModifiedBy>
  <cp:revision>1</cp:revision>
  <dcterms:created xsi:type="dcterms:W3CDTF">2026-09-11T17:17:19Z</dcterms:created>
  <dcterms:modified xsi:type="dcterms:W3CDTF">2026-09-11T17:17:19Z</dcterms:modified>
</cp:coreProperties>
</file>